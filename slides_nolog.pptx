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19.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20.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30.xml.rels" ContentType="application/vnd.openxmlformats-package.relationships+xml"/>
  <Override PartName="/ppt/slideMasters/_rels/slideMaster28.xml.rels" ContentType="application/vnd.openxmlformats-package.relationships+xml"/>
  <Override PartName="/ppt/slideMasters/_rels/slideMaster32.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33.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10.xml.rels" ContentType="application/vnd.openxmlformats-package.relationships+xml"/>
  <Override PartName="/ppt/slideMasters/_rels/slideMaster34.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33.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34.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30.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slideLayouts/slideLayout22.xml" ContentType="application/vnd.openxmlformats-officedocument.presentationml.slideLayout+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6.xml.rels" ContentType="application/vnd.openxmlformats-package.relationships+xml"/>
  <Override PartName="/ppt/slideLayouts/_rels/slideLayout8.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27.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26.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3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33.xml.rels" ContentType="application/vnd.openxmlformats-package.relationships+xml"/>
  <Override PartName="/ppt/slideLayouts/_rels/slideLayout22.xml.rels" ContentType="application/vnd.openxmlformats-package.relationships+xml"/>
  <Override PartName="/ppt/slideLayouts/_rels/slideLayout34.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28.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3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_rels/presentation.xml.rels" ContentType="application/vnd.openxmlformats-package.relationships+xml"/>
  <Override PartName="/ppt/media/image29.png" ContentType="image/png"/>
  <Override PartName="/ppt/media/image16.svg" ContentType="image/svg"/>
  <Override PartName="/ppt/media/image27.png" ContentType="image/png"/>
  <Override PartName="/ppt/media/image21.jpeg" ContentType="image/jpeg"/>
  <Override PartName="/ppt/media/image25.png" ContentType="image/png"/>
  <Override PartName="/ppt/media/image24.png" ContentType="image/png"/>
  <Override PartName="/ppt/media/image15.png" ContentType="image/png"/>
  <Override PartName="/ppt/media/image10.png" ContentType="image/png"/>
  <Override PartName="/ppt/media/image6.png" ContentType="image/png"/>
  <Override PartName="/ppt/media/image8.jpeg" ContentType="image/jpeg"/>
  <Override PartName="/ppt/media/image11.jpeg" ContentType="image/jpeg"/>
  <Override PartName="/ppt/media/image30.png" ContentType="image/png"/>
  <Override PartName="/ppt/media/image13.jpeg" ContentType="image/jpeg"/>
  <Override PartName="/ppt/media/image9.png" ContentType="image/png"/>
  <Override PartName="/ppt/media/image28.png" ContentType="image/png"/>
  <Override PartName="/ppt/media/image7.jpeg" ContentType="image/jpeg"/>
  <Override PartName="/ppt/media/image5.jpeg" ContentType="image/jpeg"/>
  <Override PartName="/ppt/media/image35.png" ContentType="image/png"/>
  <Override PartName="/ppt/media/image3.png" ContentType="image/png"/>
  <Override PartName="/ppt/media/image31.png" ContentType="image/png"/>
  <Override PartName="/ppt/media/image32.png" ContentType="image/png"/>
  <Override PartName="/ppt/media/image12.png" ContentType="image/png"/>
  <Override PartName="/ppt/media/image4.svg" ContentType="image/svg"/>
  <Override PartName="/ppt/media/image34.png" ContentType="image/png"/>
  <Override PartName="/ppt/media/image2.png" ContentType="image/png"/>
  <Override PartName="/ppt/media/image14.jpeg" ContentType="image/jpeg"/>
  <Override PartName="/ppt/media/image23.png" ContentType="image/png"/>
  <Override PartName="/ppt/media/image1.png" ContentType="image/png"/>
  <Override PartName="/ppt/media/image33.png" ContentType="image/png"/>
  <Override PartName="/ppt/media/image17.jpeg" ContentType="image/jpeg"/>
  <Override PartName="/ppt/media/image18.jpeg" ContentType="image/jpeg"/>
  <Override PartName="/ppt/media/image20.jpeg" ContentType="image/jpeg"/>
  <Override PartName="/ppt/media/image26.png" ContentType="image/png"/>
  <Override PartName="/ppt/media/image19.jpeg" ContentType="image/jpeg"/>
  <Override PartName="/ppt/media/image22.png" ContentType="image/pn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Lst>
  <p:sldIdLst>
    <p:sldId id="256" r:id="rId36"/>
    <p:sldId id="257" r:id="rId37"/>
    <p:sldId id="258" r:id="rId38"/>
    <p:sldId id="259" r:id="rId39"/>
    <p:sldId id="260" r:id="rId40"/>
    <p:sldId id="261" r:id="rId41"/>
    <p:sldId id="262" r:id="rId42"/>
    <p:sldId id="263" r:id="rId43"/>
    <p:sldId id="264" r:id="rId44"/>
    <p:sldId id="265" r:id="rId45"/>
    <p:sldId id="266" r:id="rId46"/>
    <p:sldId id="267" r:id="rId47"/>
    <p:sldId id="268" r:id="rId48"/>
    <p:sldId id="269" r:id="rId49"/>
    <p:sldId id="270" r:id="rId50"/>
    <p:sldId id="271" r:id="rId51"/>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 Target="slides/slide1.xml"/><Relationship Id="rId37" Type="http://schemas.openxmlformats.org/officeDocument/2006/relationships/slide" Target="slides/slide2.xml"/><Relationship Id="rId38" Type="http://schemas.openxmlformats.org/officeDocument/2006/relationships/slide" Target="slides/slide3.xml"/><Relationship Id="rId39" Type="http://schemas.openxmlformats.org/officeDocument/2006/relationships/slide" Target="slides/slide4.xml"/><Relationship Id="rId40" Type="http://schemas.openxmlformats.org/officeDocument/2006/relationships/slide" Target="slides/slide5.xml"/><Relationship Id="rId41" Type="http://schemas.openxmlformats.org/officeDocument/2006/relationships/slide" Target="slides/slide6.xml"/><Relationship Id="rId42" Type="http://schemas.openxmlformats.org/officeDocument/2006/relationships/slide" Target="slides/slide7.xml"/><Relationship Id="rId43" Type="http://schemas.openxmlformats.org/officeDocument/2006/relationships/slide" Target="slides/slide8.xml"/><Relationship Id="rId44" Type="http://schemas.openxmlformats.org/officeDocument/2006/relationships/slide" Target="slides/slide9.xml"/><Relationship Id="rId45" Type="http://schemas.openxmlformats.org/officeDocument/2006/relationships/slide" Target="slides/slide10.xml"/><Relationship Id="rId46" Type="http://schemas.openxmlformats.org/officeDocument/2006/relationships/slide" Target="slides/slide11.xml"/><Relationship Id="rId47" Type="http://schemas.openxmlformats.org/officeDocument/2006/relationships/slide" Target="slides/slide12.xml"/><Relationship Id="rId48" Type="http://schemas.openxmlformats.org/officeDocument/2006/relationships/slide" Target="slides/slide13.xml"/><Relationship Id="rId49" Type="http://schemas.openxmlformats.org/officeDocument/2006/relationships/slide" Target="slides/slide14.xml"/><Relationship Id="rId50" Type="http://schemas.openxmlformats.org/officeDocument/2006/relationships/slide" Target="slides/slide15.xml"/><Relationship Id="rId51" Type="http://schemas.openxmlformats.org/officeDocument/2006/relationships/slide" Target="slides/slide16.xml"/><Relationship Id="rId5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163892E-68EC-4E76-8FA5-0CA1794E7A48}" type="slidenum">
              <a:t>&lt;#&gt;</a:t>
            </a:fld>
          </a:p>
        </p:txBody>
      </p:sp>
      <p:sp>
        <p:nvSpPr>
          <p:cNvPr id="6" name="PlaceHolder 5"/>
          <p:cNvSpPr>
            <a:spLocks noGrp="1"/>
          </p:cNvSpPr>
          <p:nvPr>
            <p:ph type="dt" idx="3"/>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C5AD6A13-FD13-4AA8-8FFB-2A58C1815317}" type="slidenum">
              <a:t>&lt;#&gt;</a:t>
            </a:fld>
          </a:p>
        </p:txBody>
      </p:sp>
      <p:sp>
        <p:nvSpPr>
          <p:cNvPr id="4" name="PlaceHolder 3"/>
          <p:cNvSpPr>
            <a:spLocks noGrp="1"/>
          </p:cNvSpPr>
          <p:nvPr>
            <p:ph type="dt" idx="6"/>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65F70B1-A236-4A6F-915E-937C1C9295FD}" type="slidenum">
              <a:t>&lt;#&gt;</a:t>
            </a:fld>
          </a:p>
        </p:txBody>
      </p:sp>
      <p:sp>
        <p:nvSpPr>
          <p:cNvPr id="4" name="PlaceHolder 3"/>
          <p:cNvSpPr>
            <a:spLocks noGrp="1"/>
          </p:cNvSpPr>
          <p:nvPr>
            <p:ph type="dt" idx="9"/>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 Big Type">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Statement - Text">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2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C01A0FCB-AED5-41A5-A777-C3047BCBAD31}" type="slidenum">
              <a:t>&lt;#&gt;</a:t>
            </a:fld>
          </a:p>
        </p:txBody>
      </p:sp>
      <p:sp>
        <p:nvSpPr>
          <p:cNvPr id="6" name="PlaceHolder 5"/>
          <p:cNvSpPr>
            <a:spLocks noGrp="1"/>
          </p:cNvSpPr>
          <p:nvPr>
            <p:ph type="dt" idx="12"/>
          </p:nvPr>
        </p:nvSpPr>
        <p:spPr/>
        <p:txBody>
          <a:bodyPr/>
          <a:p>
            <a:r>
              <a:rPr lang="en-GB"/>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E1A60BD7-A77A-4DC1-8510-510DF964141B}" type="slidenum">
              <a:t>&lt;#&gt;</a:t>
            </a:fld>
          </a:p>
        </p:txBody>
      </p:sp>
      <p:sp>
        <p:nvSpPr>
          <p:cNvPr id="4" name="PlaceHolder 3"/>
          <p:cNvSpPr>
            <a:spLocks noGrp="1"/>
          </p:cNvSpPr>
          <p:nvPr>
            <p:ph type="dt" idx="15"/>
          </p:nvPr>
        </p:nvSpPr>
        <p:spPr/>
        <p:txBody>
          <a:bodyPr/>
          <a:p>
            <a:r>
              <a:rPr lang="en-GB"/>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941CE7EB-622D-46F4-A9EF-217505E1ACC3}" type="slidenum">
              <a:t>&lt;#&gt;</a:t>
            </a:fld>
          </a:p>
        </p:txBody>
      </p:sp>
      <p:sp>
        <p:nvSpPr>
          <p:cNvPr id="7" name="PlaceHolder 6"/>
          <p:cNvSpPr>
            <a:spLocks noGrp="1"/>
          </p:cNvSpPr>
          <p:nvPr>
            <p:ph type="dt" idx="18"/>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13DBCF4-D974-4747-97FC-2A139AF2D511}" type="slidenum">
              <a:t>&lt;#&gt;</a:t>
            </a:fld>
          </a:p>
        </p:txBody>
      </p:sp>
      <p:sp>
        <p:nvSpPr>
          <p:cNvPr id="4" name="PlaceHolder 3"/>
          <p:cNvSpPr>
            <a:spLocks noGrp="1"/>
          </p:cNvSpPr>
          <p:nvPr>
            <p:ph type="dt" idx="21"/>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7AE2C24C-A3E6-4250-92B1-21497D7A7C45}" type="slidenum">
              <a:t>&lt;#&gt;</a:t>
            </a:fld>
          </a:p>
        </p:txBody>
      </p:sp>
      <p:sp>
        <p:nvSpPr>
          <p:cNvPr id="5" name="PlaceHolder 4"/>
          <p:cNvSpPr>
            <a:spLocks noGrp="1"/>
          </p:cNvSpPr>
          <p:nvPr>
            <p:ph type="dt" idx="24"/>
          </p:nvPr>
        </p:nvSpPr>
        <p:spPr/>
        <p:txBody>
          <a:bodyPr/>
          <a:p>
            <a:r>
              <a:rPr lang="en-GB"/>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E53F567E-D7E6-44BA-8031-0FDF1BA15756}" type="slidenum">
              <a:t>&lt;#&gt;</a:t>
            </a:fld>
          </a:p>
        </p:txBody>
      </p:sp>
      <p:sp>
        <p:nvSpPr>
          <p:cNvPr id="4" name="PlaceHolder 3"/>
          <p:cNvSpPr>
            <a:spLocks noGrp="1"/>
          </p:cNvSpPr>
          <p:nvPr>
            <p:ph type="dt" idx="27"/>
          </p:nvPr>
        </p:nvSpPr>
        <p:spPr/>
        <p:txBody>
          <a:bodyPr/>
          <a:p>
            <a:r>
              <a:rPr lang="en-GB"/>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C631D568-B0E2-4366-8C13-F33B34DE6EAE}" type="slidenum">
              <a:t>&lt;#&gt;</a:t>
            </a:fld>
          </a:p>
        </p:txBody>
      </p:sp>
      <p:sp>
        <p:nvSpPr>
          <p:cNvPr id="4" name="PlaceHolder 3"/>
          <p:cNvSpPr>
            <a:spLocks noGrp="1"/>
          </p:cNvSpPr>
          <p:nvPr>
            <p:ph type="dt" idx="30"/>
          </p:nvPr>
        </p:nvSpPr>
        <p:spPr/>
        <p:txBody>
          <a:bodyPr/>
          <a:p>
            <a:r>
              <a:rPr lang="en-GB"/>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E05E35F1-6ECA-4EBF-8B85-AEC062509F20}" type="slidenum">
              <a:t>&lt;#&gt;</a:t>
            </a:fld>
          </a:p>
        </p:txBody>
      </p:sp>
      <p:sp>
        <p:nvSpPr>
          <p:cNvPr id="4" name="PlaceHolder 3"/>
          <p:cNvSpPr>
            <a:spLocks noGrp="1"/>
          </p:cNvSpPr>
          <p:nvPr>
            <p:ph type="dt" idx="33"/>
          </p:nvPr>
        </p:nvSpPr>
        <p:spPr/>
        <p:txBody>
          <a:bodyPr/>
          <a:p>
            <a:r>
              <a:rPr lang="en-GB"/>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 Illustration Blue">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6">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7">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8">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9">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Text only">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 Blue">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 Photo">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Statement - Blue">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Statement - Photo">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Subhead - Blue">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 Dark Photo">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amp;A - Blue">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 Blue">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 Big Type - with Icon">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1">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2">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3">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4">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 5">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7.jpeg"/><Relationship Id="rId3" Type="http://schemas.openxmlformats.org/officeDocument/2006/relationships/image" Target="../media/image6.pn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8.jpeg"/><Relationship Id="rId3" Type="http://schemas.openxmlformats.org/officeDocument/2006/relationships/image" Target="../media/image6.png"/><Relationship Id="rId4"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6.pn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6.png"/><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6.pn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6.png"/><Relationship Id="rId3"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6.png"/><Relationship Id="rId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11.jpe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13.jpeg"/><Relationship Id="rId3" Type="http://schemas.openxmlformats.org/officeDocument/2006/relationships/image" Target="../media/image6.png"/><Relationship Id="rId4"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14.jpeg"/><Relationship Id="rId3" Type="http://schemas.openxmlformats.org/officeDocument/2006/relationships/image" Target="../media/image1.png"/><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1.png"/><Relationship Id="rId3"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image" Target="../media/image17.jpeg"/><Relationship Id="rId3" Type="http://schemas.openxmlformats.org/officeDocument/2006/relationships/image" Target="../media/image6.png"/><Relationship Id="rId4"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image" Target="../media/image18.jpeg"/><Relationship Id="rId3" Type="http://schemas.openxmlformats.org/officeDocument/2006/relationships/image" Target="../media/image6.png"/><Relationship Id="rId4"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image" Target="../media/image19.jpeg"/><Relationship Id="rId3" Type="http://schemas.openxmlformats.org/officeDocument/2006/relationships/image" Target="../media/image6.png"/><Relationship Id="rId4"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image" Target="../media/image20.jpeg"/><Relationship Id="rId3" Type="http://schemas.openxmlformats.org/officeDocument/2006/relationships/image" Target="../media/image6.png"/><Relationship Id="rId4"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image" Target="../media/image21.jpeg"/><Relationship Id="rId3" Type="http://schemas.openxmlformats.org/officeDocument/2006/relationships/image" Target="../media/image6.png"/><Relationship Id="rId4" Type="http://schemas.openxmlformats.org/officeDocument/2006/relationships/slideLayout" Target="../slideLayouts/slideLayout3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1" name="PlaceHolder 2"/>
          <p:cNvSpPr>
            <a:spLocks noGrp="1"/>
          </p:cNvSpPr>
          <p:nvPr>
            <p:ph type="ftr" idx="1"/>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B45389A4-F064-49FC-8F83-E2AA64A0C3EE}"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7" name="PlaceHolder 2"/>
          <p:cNvSpPr>
            <a:spLocks noGrp="1"/>
          </p:cNvSpPr>
          <p:nvPr>
            <p:ph type="sldNum" idx="5"/>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CF97F288-E806-4ADB-9848-092AD53B3C26}"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8" name="PlaceHolder 3"/>
          <p:cNvSpPr>
            <a:spLocks noGrp="1"/>
          </p:cNvSpPr>
          <p:nvPr>
            <p:ph type="dt" idx="6"/>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10" name="PlaceHolder 2"/>
          <p:cNvSpPr>
            <a:spLocks noGrp="1"/>
          </p:cNvSpPr>
          <p:nvPr>
            <p:ph type="sldNum" idx="8"/>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DBF58343-34B0-4EAA-B467-BA4B56AA2C7A}"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11" name="PlaceHolder 3"/>
          <p:cNvSpPr>
            <a:spLocks noGrp="1"/>
          </p:cNvSpPr>
          <p:nvPr>
            <p:ph type="dt" idx="9"/>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pic>
        <p:nvPicPr>
          <p:cNvPr id="12" name="Picture 14" descr=""/>
          <p:cNvPicPr/>
          <p:nvPr/>
        </p:nvPicPr>
        <p:blipFill>
          <a:blip r:embed="rId2"/>
          <a:stretch/>
        </p:blipFill>
        <p:spPr>
          <a:xfrm>
            <a:off x="534960" y="385560"/>
            <a:ext cx="833400" cy="268200"/>
          </a:xfrm>
          <a:prstGeom prst="rect">
            <a:avLst/>
          </a:prstGeom>
          <a:ln w="0">
            <a:noFill/>
          </a:ln>
        </p:spPr>
      </p:pic>
      <p:sp>
        <p:nvSpPr>
          <p:cNvPr id="13" name="TextBox 8"/>
          <p:cNvSpPr/>
          <p:nvPr/>
        </p:nvSpPr>
        <p:spPr>
          <a:xfrm>
            <a:off x="11192760" y="6392520"/>
            <a:ext cx="386640" cy="1033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9E4ADC0F-5EF0-41C2-9C7C-483E65C08209}" type="slidenum">
              <a:rPr b="0" lang="en-US" sz="600" spc="-1" strike="noStrike">
                <a:solidFill>
                  <a:schemeClr val="dk2"/>
                </a:solidFill>
                <a:latin typeface="Calibri"/>
              </a:rPr>
              <a:t>&lt;number&gt;</a:t>
            </a:fld>
            <a:endParaRPr b="0" lang="en-GB" sz="600" spc="-1" strike="noStrike">
              <a:solidFill>
                <a:srgbClr val="ffffff"/>
              </a:solidFill>
              <a:latin typeface="Arial"/>
            </a:endParaRPr>
          </a:p>
        </p:txBody>
      </p:sp>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pc="-1" strike="noStrike">
                <a:solidFill>
                  <a:srgbClr val="ffffff"/>
                </a:solidFill>
                <a:latin typeface="Arial"/>
              </a:rPr>
              <a:t>Click to edit the title text format</a:t>
            </a:r>
            <a:endParaRPr b="0" lang="en-GB" sz="4400" spc="-1" strike="noStrike">
              <a:solidFill>
                <a:srgbClr val="ffffff"/>
              </a:solidFill>
              <a:latin typeface="Arial"/>
            </a:endParaRPr>
          </a:p>
        </p:txBody>
      </p:sp>
      <p:sp>
        <p:nvSpPr>
          <p:cNvPr id="1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GB" sz="3200" spc="-1" strike="noStrike">
                <a:solidFill>
                  <a:srgbClr val="ffffff"/>
                </a:solidFill>
                <a:latin typeface="Arial"/>
              </a:rPr>
              <a:t>Click to edit the outline text format</a:t>
            </a:r>
            <a:endParaRPr b="0" lang="en-GB"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GB" sz="2800" spc="-1" strike="noStrike">
                <a:solidFill>
                  <a:srgbClr val="ffffff"/>
                </a:solidFill>
                <a:latin typeface="Arial"/>
              </a:rPr>
              <a:t>Second Outline Level</a:t>
            </a:r>
            <a:endParaRPr b="0" lang="en-GB"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GB" sz="2400" spc="-1" strike="noStrike">
                <a:solidFill>
                  <a:srgbClr val="ffffff"/>
                </a:solidFill>
                <a:latin typeface="Arial"/>
              </a:rPr>
              <a:t>Third Outline Level</a:t>
            </a:r>
            <a:endParaRPr b="0" lang="en-GB"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GB" sz="2000" spc="-1" strike="noStrike">
                <a:solidFill>
                  <a:srgbClr val="ffffff"/>
                </a:solidFill>
                <a:latin typeface="Arial"/>
              </a:rPr>
              <a:t>Fourth Outline Level</a:t>
            </a:r>
            <a:endParaRPr b="0" lang="en-GB"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GB" sz="2000" spc="-1" strike="noStrike">
                <a:solidFill>
                  <a:srgbClr val="ffffff"/>
                </a:solidFill>
                <a:latin typeface="Arial"/>
              </a:rPr>
              <a:t>Fifth Outline Level</a:t>
            </a:r>
            <a:endParaRPr b="0" lang="en-GB"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GB" sz="2000" spc="-1" strike="noStrike">
                <a:solidFill>
                  <a:srgbClr val="ffffff"/>
                </a:solidFill>
                <a:latin typeface="Arial"/>
              </a:rPr>
              <a:t>Sixth Outline Level</a:t>
            </a:r>
            <a:endParaRPr b="0" lang="en-GB"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GB" sz="2000" spc="-1" strike="noStrike">
                <a:solidFill>
                  <a:srgbClr val="ffffff"/>
                </a:solidFill>
                <a:latin typeface="Arial"/>
              </a:rPr>
              <a:t>Seventh Outline Level</a:t>
            </a:r>
            <a:endParaRPr b="0" lang="en-GB"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6" name="Straight Connector 14"/>
          <p:cNvCxnSpPr/>
          <p:nvPr/>
        </p:nvCxnSpPr>
        <p:spPr>
          <a:xfrm>
            <a:off x="609480" y="380880"/>
            <a:ext cx="10975680" cy="2880"/>
          </a:xfrm>
          <a:prstGeom prst="straightConnector1">
            <a:avLst/>
          </a:prstGeom>
          <a:ln w="19050">
            <a:solidFill>
              <a:srgbClr val="4472c4"/>
            </a:solidFill>
            <a:round/>
          </a:ln>
        </p:spPr>
      </p:cxnSp>
      <p:pic>
        <p:nvPicPr>
          <p:cNvPr id="17" name="Picture 10" descr="Logo&#10;&#10;Description automatically generated"/>
          <p:cNvPicPr/>
          <p:nvPr/>
        </p:nvPicPr>
        <p:blipFill>
          <a:blip r:embed="rId2"/>
          <a:stretch/>
        </p:blipFill>
        <p:spPr>
          <a:xfrm>
            <a:off x="609480" y="6297840"/>
            <a:ext cx="550080" cy="176400"/>
          </a:xfrm>
          <a:prstGeom prst="rect">
            <a:avLst/>
          </a:prstGeom>
          <a:ln w="0">
            <a:noFill/>
          </a:ln>
        </p:spPr>
      </p:pic>
      <p:sp>
        <p:nvSpPr>
          <p:cNvPr id="18" name="TextBox 8"/>
          <p:cNvSpPr/>
          <p:nvPr/>
        </p:nvSpPr>
        <p:spPr>
          <a:xfrm>
            <a:off x="11192760" y="6392520"/>
            <a:ext cx="386640" cy="1033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DE2D01EF-EE50-484D-BEEF-7BDEA21CA3F3}" type="slidenum">
              <a:rPr b="0" lang="en-US" sz="600" spc="-1" strike="noStrike">
                <a:solidFill>
                  <a:schemeClr val="lt2"/>
                </a:solidFill>
                <a:latin typeface="Calibri"/>
              </a:rPr>
              <a:t>&lt;number&gt;</a:t>
            </a:fld>
            <a:endParaRPr b="0" lang="en-GB" sz="600" spc="-1" strike="noStrike">
              <a:solidFill>
                <a:srgbClr val="000000"/>
              </a:solidFill>
              <a:latin typeface="Arial"/>
            </a:endParaRPr>
          </a:p>
        </p:txBody>
      </p:sp>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2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23" name="PlaceHolder 3"/>
          <p:cNvSpPr>
            <a:spLocks noGrp="1"/>
          </p:cNvSpPr>
          <p:nvPr>
            <p:ph type="ftr" idx="10"/>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4" name="PlaceHolder 4"/>
          <p:cNvSpPr>
            <a:spLocks noGrp="1"/>
          </p:cNvSpPr>
          <p:nvPr>
            <p:ph type="sldNum" idx="11"/>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0B06CA0F-98A2-4B83-8813-1FAF91B2E8E9}"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25" name="PlaceHolder 5"/>
          <p:cNvSpPr>
            <a:spLocks noGrp="1"/>
          </p:cNvSpPr>
          <p:nvPr>
            <p:ph type="dt" idx="12"/>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ftr" idx="13"/>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9" name="PlaceHolder 2"/>
          <p:cNvSpPr>
            <a:spLocks noGrp="1"/>
          </p:cNvSpPr>
          <p:nvPr>
            <p:ph type="sldNum" idx="14"/>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F625C1FD-B681-43B5-B7FF-8A8B6DFB7D04}"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30" name="PlaceHolder 3"/>
          <p:cNvSpPr>
            <a:spLocks noGrp="1"/>
          </p:cNvSpPr>
          <p:nvPr>
            <p:ph type="dt" idx="15"/>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32"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33"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34" name="PlaceHolder 4"/>
          <p:cNvSpPr>
            <a:spLocks noGrp="1"/>
          </p:cNvSpPr>
          <p:nvPr>
            <p:ph type="ftr" idx="16"/>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35" name="PlaceHolder 5"/>
          <p:cNvSpPr>
            <a:spLocks noGrp="1"/>
          </p:cNvSpPr>
          <p:nvPr>
            <p:ph type="sldNum" idx="17"/>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D2D80641-F62E-4634-884E-C0AB8D88A67E}"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36" name="PlaceHolder 6"/>
          <p:cNvSpPr>
            <a:spLocks noGrp="1"/>
          </p:cNvSpPr>
          <p:nvPr>
            <p:ph type="dt" idx="18"/>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ftr" idx="19"/>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1" name="PlaceHolder 2"/>
          <p:cNvSpPr>
            <a:spLocks noGrp="1"/>
          </p:cNvSpPr>
          <p:nvPr>
            <p:ph type="sldNum" idx="20"/>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E779BAFB-FDC8-4411-A600-71A8BAE3FF7F}"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42" name="PlaceHolder 3"/>
          <p:cNvSpPr>
            <a:spLocks noGrp="1"/>
          </p:cNvSpPr>
          <p:nvPr>
            <p:ph type="dt" idx="21"/>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44" name="PlaceHolder 2"/>
          <p:cNvSpPr>
            <a:spLocks noGrp="1"/>
          </p:cNvSpPr>
          <p:nvPr>
            <p:ph type="ftr" idx="22"/>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5" name="PlaceHolder 3"/>
          <p:cNvSpPr>
            <a:spLocks noGrp="1"/>
          </p:cNvSpPr>
          <p:nvPr>
            <p:ph type="sldNum" idx="23"/>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6BF817FF-0811-4E3A-AF93-E70C5B834364}"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46" name="PlaceHolder 4"/>
          <p:cNvSpPr>
            <a:spLocks noGrp="1"/>
          </p:cNvSpPr>
          <p:nvPr>
            <p:ph type="dt" idx="24"/>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ftr" idx="25"/>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9" name="PlaceHolder 2"/>
          <p:cNvSpPr>
            <a:spLocks noGrp="1"/>
          </p:cNvSpPr>
          <p:nvPr>
            <p:ph type="sldNum" idx="26"/>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C367D183-1AB3-49E3-8609-3FC070B89E03}"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50" name="PlaceHolder 3"/>
          <p:cNvSpPr>
            <a:spLocks noGrp="1"/>
          </p:cNvSpPr>
          <p:nvPr>
            <p:ph type="dt" idx="27"/>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ftr" idx="28"/>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52" name="PlaceHolder 2"/>
          <p:cNvSpPr>
            <a:spLocks noGrp="1"/>
          </p:cNvSpPr>
          <p:nvPr>
            <p:ph type="sldNum" idx="29"/>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0B4AFDFE-92A6-46AC-B849-18EDF8A8CA2E}"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53" name="PlaceHolder 3"/>
          <p:cNvSpPr>
            <a:spLocks noGrp="1"/>
          </p:cNvSpPr>
          <p:nvPr>
            <p:ph type="dt" idx="30"/>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ftr" idx="31"/>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55" name="PlaceHolder 2"/>
          <p:cNvSpPr>
            <a:spLocks noGrp="1"/>
          </p:cNvSpPr>
          <p:nvPr>
            <p:ph type="sldNum" idx="32"/>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F4822DEE-EBD1-4178-B557-7205B2B28DD7}" type="slidenum">
              <a:rPr b="0" lang="en-GB" sz="1200" spc="-1" strike="noStrike">
                <a:solidFill>
                  <a:schemeClr val="dk1">
                    <a:tint val="75000"/>
                  </a:schemeClr>
                </a:solidFill>
                <a:latin typeface="Calibri"/>
              </a:rPr>
              <a:t>&lt;number&gt;</a:t>
            </a:fld>
            <a:endParaRPr b="0" lang="en-GB" sz="1200" spc="-1" strike="noStrike">
              <a:solidFill>
                <a:srgbClr val="000000"/>
              </a:solidFill>
              <a:latin typeface="Times New Roman"/>
            </a:endParaRPr>
          </a:p>
        </p:txBody>
      </p:sp>
      <p:sp>
        <p:nvSpPr>
          <p:cNvPr id="56" name="PlaceHolder 3"/>
          <p:cNvSpPr>
            <a:spLocks noGrp="1"/>
          </p:cNvSpPr>
          <p:nvPr>
            <p:ph type="dt" idx="33"/>
          </p:nvPr>
        </p:nvSpPr>
        <p:spPr>
          <a:xfrm>
            <a:off x="838080" y="6356520"/>
            <a:ext cx="2740320" cy="362160"/>
          </a:xfrm>
          <a:prstGeom prst="rect">
            <a:avLst/>
          </a:prstGeom>
          <a:noFill/>
          <a:ln w="0">
            <a:noFill/>
          </a:ln>
        </p:spPr>
        <p:txBody>
          <a:bodyPr lIns="91440" rIns="91440" tIns="45720" bIns="45720" anchor="ctr">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7"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58"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20B16B89-3ABC-4E68-800C-3407457AE6E6}"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59" name="Picture 11" descr=""/>
          <p:cNvPicPr/>
          <p:nvPr/>
        </p:nvPicPr>
        <p:blipFill>
          <a:blip r:embed="rId2"/>
          <a:stretch/>
        </p:blipFill>
        <p:spPr>
          <a:xfrm>
            <a:off x="534960" y="385560"/>
            <a:ext cx="833400" cy="268200"/>
          </a:xfrm>
          <a:prstGeom prst="rect">
            <a:avLst/>
          </a:prstGeom>
          <a:ln w="0">
            <a:noFill/>
          </a:ln>
        </p:spPr>
      </p:pic>
      <p:pic>
        <p:nvPicPr>
          <p:cNvPr id="60" name="Graphic 12" descr=""/>
          <p:cNvPicPr/>
          <p:nvPr/>
        </p:nvPicPr>
        <p:blipFill>
          <a:blip r:embed="rId3">
            <a:extLst>
              <a:ext uri="{96DAC541-7B7A-43D3-8B79-37D633B846F1}">
                <asvg:svgBlip xmlns:asvg="http://schemas.microsoft.com/office/drawing/2016/SVG/main" r:embed="rId4"/>
              </a:ext>
            </a:extLst>
          </a:blip>
          <a:stretch/>
        </p:blipFill>
        <p:spPr>
          <a:xfrm>
            <a:off x="7254360" y="2776680"/>
            <a:ext cx="4428720" cy="3296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5" r:id="rId5"/>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1"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62"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4AC4AB35-E876-4214-99DD-AD183CF868B2}"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63" name="Picture 8"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4"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65"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B4BFAD59-78E8-4BB9-A03D-F10439FC98B0}"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66" name="Picture 8"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7"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68"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256C226E-8C77-4ACE-96D6-B1A279320898}"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69" name="Picture 8"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1"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0"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71"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885CAA04-829E-4994-82E2-ACD0B95F164F}"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72" name="Picture 8"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3" r:id="rId4"/>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73"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74"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C33D792D-872A-482A-9256-5C06A1BE2749}"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75" name="Picture 7" descr=""/>
          <p:cNvPicPr/>
          <p:nvPr/>
        </p:nvPicPr>
        <p:blipFill>
          <a:blip r:embed="rId2"/>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6"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77"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9A4B1447-6979-4717-8852-5A305013423D}"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78" name="Picture 7"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7" r:id="rId4"/>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9"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80"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AC643252-5492-4392-A4BE-05875392FA9E}"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81" name="Picture 6" descr=""/>
          <p:cNvPicPr/>
          <p:nvPr/>
        </p:nvPicPr>
        <p:blipFill>
          <a:blip r:embed="rId2"/>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82"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83"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8C5C3B1E-0C1C-4BA6-B592-078DAEA4C563}"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84" name="Picture 6" descr=""/>
          <p:cNvPicPr/>
          <p:nvPr/>
        </p:nvPicPr>
        <p:blipFill>
          <a:blip r:embed="rId2"/>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5"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86"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55F2D639-C32C-4875-83D8-53C77D7A7F55}"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87" name="Picture 7" descr=""/>
          <p:cNvPicPr/>
          <p:nvPr/>
        </p:nvPicPr>
        <p:blipFill>
          <a:blip r:embed="rId2"/>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3" r:id="rId3"/>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88"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89"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6743964C-5154-4EFB-881F-D0C0A26DEB72}"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cxnSp>
        <p:nvCxnSpPr>
          <p:cNvPr id="90" name="Straight Connector 21"/>
          <p:cNvCxnSpPr/>
          <p:nvPr/>
        </p:nvCxnSpPr>
        <p:spPr>
          <a:xfrm>
            <a:off x="609480" y="380880"/>
            <a:ext cx="10975680" cy="2880"/>
          </a:xfrm>
          <a:prstGeom prst="straightConnector1">
            <a:avLst/>
          </a:prstGeom>
          <a:ln w="19050">
            <a:solidFill>
              <a:srgbClr val="ffffff"/>
            </a:solidFill>
            <a:round/>
          </a:ln>
        </p:spPr>
      </p:cxnSp>
      <p:pic>
        <p:nvPicPr>
          <p:cNvPr id="91" name="Picture 9" descr=""/>
          <p:cNvPicPr/>
          <p:nvPr/>
        </p:nvPicPr>
        <p:blipFill>
          <a:blip r:embed="rId2"/>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5" r:id="rId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2"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93"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2546FCF7-A888-4699-9787-92C1B9164A46}"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94" name="Picture 14" descr=""/>
          <p:cNvPicPr/>
          <p:nvPr/>
        </p:nvPicPr>
        <p:blipFill>
          <a:blip r:embed="rId3"/>
          <a:stretch/>
        </p:blipFill>
        <p:spPr>
          <a:xfrm>
            <a:off x="534960" y="385560"/>
            <a:ext cx="833400" cy="268200"/>
          </a:xfrm>
          <a:prstGeom prst="rect">
            <a:avLst/>
          </a:prstGeom>
          <a:ln w="0">
            <a:noFill/>
          </a:ln>
        </p:spPr>
      </p:pic>
      <p:pic>
        <p:nvPicPr>
          <p:cNvPr id="95" name="Picture 6" descr="Background pattern, rectangle&#10;&#10;Description automatically generated"/>
          <p:cNvPicPr/>
          <p:nvPr/>
        </p:nvPicPr>
        <p:blipFill>
          <a:blip r:embed="rId4"/>
          <a:stretch/>
        </p:blipFill>
        <p:spPr>
          <a:xfrm>
            <a:off x="609480" y="6210360"/>
            <a:ext cx="397080" cy="2642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7" r:id="rId5"/>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6"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97"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5CF08E25-F8AE-46E0-9F22-18057D2D5CF7}"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98" name="Picture 6"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9" r:id="rId4"/>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9"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00"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6A403A28-D97B-43D9-B124-506787BCED73}"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01" name="Picture 7" descr=""/>
          <p:cNvPicPr/>
          <p:nvPr/>
        </p:nvPicPr>
        <p:blipFill>
          <a:blip r:embed="rId3"/>
          <a:stretch/>
        </p:blipFill>
        <p:spPr>
          <a:xfrm>
            <a:off x="534960" y="385560"/>
            <a:ext cx="833400" cy="2682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102"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03"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E9B37BA2-9B2B-48FF-860B-A6D47426A86C}"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04" name="Picture 12" descr=""/>
          <p:cNvPicPr/>
          <p:nvPr/>
        </p:nvPicPr>
        <p:blipFill>
          <a:blip r:embed="rId2"/>
          <a:stretch/>
        </p:blipFill>
        <p:spPr>
          <a:xfrm>
            <a:off x="534960" y="385560"/>
            <a:ext cx="833400" cy="268200"/>
          </a:xfrm>
          <a:prstGeom prst="rect">
            <a:avLst/>
          </a:prstGeom>
          <a:ln w="0">
            <a:noFill/>
          </a:ln>
        </p:spPr>
      </p:pic>
      <p:pic>
        <p:nvPicPr>
          <p:cNvPr id="105" name="Picture Placeholder 6" descr=""/>
          <p:cNvPicPr/>
          <p:nvPr/>
        </p:nvPicPr>
        <p:blipFill>
          <a:blip r:embed="rId3">
            <a:extLst>
              <a:ext uri="{96DAC541-7B7A-43D3-8B79-37D633B846F1}">
                <asvg:svgBlip xmlns:asvg="http://schemas.microsoft.com/office/drawing/2016/SVG/main" r:embed="rId4"/>
              </a:ext>
            </a:extLst>
          </a:blip>
          <a:stretch/>
        </p:blipFill>
        <p:spPr>
          <a:xfrm>
            <a:off x="9208080" y="3835800"/>
            <a:ext cx="2371680" cy="23716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3" r:id="rId5"/>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106"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07"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9EBBD350-0E98-454A-8555-1B892876B157}"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08" name="Picture 14" descr=""/>
          <p:cNvPicPr/>
          <p:nvPr/>
        </p:nvPicPr>
        <p:blipFill>
          <a:blip r:embed="rId2"/>
          <a:stretch/>
        </p:blipFill>
        <p:spPr>
          <a:xfrm>
            <a:off x="534960" y="385560"/>
            <a:ext cx="833400" cy="2682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5" r:id="rId3"/>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09"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10"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A3F1E363-888F-494A-ADCA-7C25F012816C}"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11" name="Picture 12"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7" r:id="rId4"/>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12"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13"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0C90404B-4187-4F29-B5AD-3E9B669AC4DE}"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14" name="Picture 10"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9" r:id="rId4"/>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15"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16"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4D770DBB-E134-44EA-9D12-22C07E5DEFF3}"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17" name="Picture 10"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11" r:id="rId4"/>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18"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19"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6712A399-C728-4ACA-AB92-5CA830E70CAD}"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20" name="Picture 8"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13" r:id="rId4"/>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21" name="TextBox 5"/>
          <p:cNvSpPr/>
          <p:nvPr/>
        </p:nvSpPr>
        <p:spPr>
          <a:xfrm>
            <a:off x="8480520" y="6379920"/>
            <a:ext cx="2783520" cy="137160"/>
          </a:xfrm>
          <a:prstGeom prst="rect">
            <a:avLst/>
          </a:prstGeom>
          <a:noFill/>
          <a:ln w="0">
            <a:noFill/>
          </a:ln>
        </p:spPr>
        <p:style>
          <a:lnRef idx="0"/>
          <a:fillRef idx="0"/>
          <a:effectRef idx="0"/>
          <a:fontRef idx="minor"/>
        </p:style>
        <p:txBody>
          <a:bodyPr lIns="0" rIns="0" tIns="0" bIns="0" anchor="b">
            <a:spAutoFit/>
          </a:bodyPr>
          <a:p>
            <a:pPr algn="r" defTabSz="914400">
              <a:lnSpc>
                <a:spcPct val="100000"/>
              </a:lnSpc>
            </a:pPr>
            <a:r>
              <a:rPr b="0" lang="en-US" sz="900" spc="-1" strike="noStrike">
                <a:solidFill>
                  <a:schemeClr val="lt2">
                    <a:lumMod val="40000"/>
                    <a:lumOff val="60000"/>
                  </a:schemeClr>
                </a:solidFill>
                <a:latin typeface="Visa Dialect Regular"/>
              </a:rPr>
              <a:t>©2022 Visa. All rights reserved. Visa Confidential</a:t>
            </a:r>
            <a:endParaRPr b="0" lang="en-GB" sz="900" spc="-1" strike="noStrike">
              <a:solidFill>
                <a:srgbClr val="ffffff"/>
              </a:solidFill>
              <a:latin typeface="Arial"/>
            </a:endParaRPr>
          </a:p>
        </p:txBody>
      </p:sp>
      <p:sp>
        <p:nvSpPr>
          <p:cNvPr id="122" name="TextBox 6"/>
          <p:cNvSpPr/>
          <p:nvPr/>
        </p:nvSpPr>
        <p:spPr>
          <a:xfrm>
            <a:off x="11192760" y="6381360"/>
            <a:ext cx="386640" cy="15516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fld id="{CD9336F0-9907-4A6F-931C-FA0B41771E9F}" type="slidenum">
              <a:rPr b="0" lang="en-US" sz="900" spc="-1" strike="noStrike">
                <a:solidFill>
                  <a:schemeClr val="lt2">
                    <a:lumMod val="40000"/>
                    <a:lumOff val="60000"/>
                  </a:schemeClr>
                </a:solidFill>
                <a:latin typeface="Visa Dialect Regular"/>
              </a:rPr>
              <a:t>&lt;number&gt;</a:t>
            </a:fld>
            <a:endParaRPr b="0" lang="en-GB" sz="900" spc="-1" strike="noStrike">
              <a:solidFill>
                <a:srgbClr val="ffffff"/>
              </a:solidFill>
              <a:latin typeface="Arial"/>
            </a:endParaRPr>
          </a:p>
        </p:txBody>
      </p:sp>
      <p:pic>
        <p:nvPicPr>
          <p:cNvPr id="123" name="Picture 8" descr=""/>
          <p:cNvPicPr/>
          <p:nvPr/>
        </p:nvPicPr>
        <p:blipFill>
          <a:blip r:embed="rId3"/>
          <a:stretch/>
        </p:blipFill>
        <p:spPr>
          <a:xfrm>
            <a:off x="609480" y="6297840"/>
            <a:ext cx="550080" cy="176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15"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34cb"/>
        </a:solidFill>
      </p:bgPr>
    </p:bg>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1600200"/>
            <a:ext cx="8077680" cy="1405440"/>
          </a:xfrm>
          <a:prstGeom prst="rect">
            <a:avLst/>
          </a:prstGeom>
          <a:noFill/>
          <a:ln w="0">
            <a:noFill/>
          </a:ln>
        </p:spPr>
        <p:txBody>
          <a:bodyPr lIns="0" rIns="0" tIns="0" bIns="0" anchor="t">
            <a:noAutofit/>
          </a:bodyPr>
          <a:p>
            <a:pPr indent="0" defTabSz="914400">
              <a:lnSpc>
                <a:spcPct val="90000"/>
              </a:lnSpc>
              <a:spcBef>
                <a:spcPts val="1191"/>
              </a:spcBef>
              <a:spcAft>
                <a:spcPts val="992"/>
              </a:spcAft>
              <a:buNone/>
              <a:tabLst>
                <a:tab algn="l" pos="0"/>
              </a:tabLst>
            </a:pPr>
            <a:r>
              <a:rPr b="1" lang="en-GB" sz="4500" spc="-1" strike="noStrike">
                <a:solidFill>
                  <a:schemeClr val="lt1"/>
                </a:solidFill>
                <a:latin typeface="Visa Dialect Medium"/>
              </a:rPr>
              <a:t>What Predicts Player Value &amp; How to create it</a:t>
            </a:r>
            <a:endParaRPr b="0" lang="en-GB" sz="4500" spc="-1" strike="noStrike">
              <a:solidFill>
                <a:srgbClr val="ffffff"/>
              </a:solidFill>
              <a:latin typeface="Arial"/>
            </a:endParaRPr>
          </a:p>
        </p:txBody>
      </p:sp>
      <p:sp>
        <p:nvSpPr>
          <p:cNvPr id="125" name="PlaceHolder 2"/>
          <p:cNvSpPr>
            <a:spLocks noGrp="1"/>
          </p:cNvSpPr>
          <p:nvPr>
            <p:ph/>
          </p:nvPr>
        </p:nvSpPr>
        <p:spPr>
          <a:xfrm>
            <a:off x="609480" y="3158640"/>
            <a:ext cx="5483520" cy="819360"/>
          </a:xfrm>
          <a:prstGeom prst="rect">
            <a:avLst/>
          </a:prstGeom>
          <a:noFill/>
          <a:ln w="0">
            <a:noFill/>
          </a:ln>
        </p:spPr>
        <p:txBody>
          <a:bodyPr lIns="91440" rIns="91440" tIns="45720" bIns="45720" anchor="t">
            <a:noAutofit/>
          </a:bodyPr>
          <a:p>
            <a:pPr indent="0" defTabSz="914400">
              <a:lnSpc>
                <a:spcPct val="100000"/>
              </a:lnSpc>
              <a:spcBef>
                <a:spcPts val="1001"/>
              </a:spcBef>
              <a:buNone/>
              <a:tabLst>
                <a:tab algn="l" pos="0"/>
              </a:tabLst>
            </a:pPr>
            <a:r>
              <a:rPr b="0" lang="en-GB" sz="1800" spc="-1" strike="noStrike">
                <a:solidFill>
                  <a:srgbClr val="ffcc00"/>
                </a:solidFill>
                <a:latin typeface="Visa Dialect Regular"/>
              </a:rPr>
              <a:t>David Clements</a:t>
            </a:r>
            <a:endParaRPr b="0" lang="en-GB" sz="1800" spc="-1" strike="noStrike">
              <a:solidFill>
                <a:srgbClr val="ffffff"/>
              </a:solidFill>
              <a:latin typeface="Arial"/>
            </a:endParaRPr>
          </a:p>
          <a:p>
            <a:pPr indent="0" defTabSz="914400">
              <a:lnSpc>
                <a:spcPct val="100000"/>
              </a:lnSpc>
              <a:spcBef>
                <a:spcPts val="1001"/>
              </a:spcBef>
              <a:buNone/>
              <a:tabLst>
                <a:tab algn="l" pos="0"/>
              </a:tabLst>
            </a:pPr>
            <a:endParaRPr b="0" lang="en-GB" sz="1800" spc="-1" strike="noStrike">
              <a:solidFill>
                <a:srgbClr val="ffffff"/>
              </a:solidFill>
              <a:latin typeface="Arial"/>
            </a:endParaRPr>
          </a:p>
        </p:txBody>
      </p:sp>
      <p:sp>
        <p:nvSpPr>
          <p:cNvPr id="126" name=""/>
          <p:cNvSpPr/>
          <p:nvPr/>
        </p:nvSpPr>
        <p:spPr>
          <a:xfrm rot="21585600">
            <a:off x="360000" y="179640"/>
            <a:ext cx="1620000" cy="54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Content Placeholder 2"/>
          <p:cNvSpPr/>
          <p:nvPr/>
        </p:nvSpPr>
        <p:spPr>
          <a:xfrm>
            <a:off x="603000" y="1620000"/>
            <a:ext cx="965592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601"/>
              </a:spcBef>
              <a:tabLst>
                <a:tab algn="l" pos="0"/>
              </a:tabLst>
            </a:pPr>
            <a:r>
              <a:rPr b="1" lang="en-US" sz="1600" spc="-1" strike="noStrike">
                <a:solidFill>
                  <a:srgbClr val="000000"/>
                </a:solidFill>
                <a:latin typeface="Visa Dialect Regular"/>
              </a:rPr>
              <a:t>        </a:t>
            </a:r>
            <a:r>
              <a:rPr b="1" lang="en-US" sz="1600" spc="-1" strike="noStrike">
                <a:solidFill>
                  <a:srgbClr val="000000"/>
                </a:solidFill>
                <a:latin typeface="Visa Dialect Regular"/>
              </a:rPr>
              <a:t>Insight 1 – FIFA’s Overall &amp; Potential ratings + age are the strongest predictors of value</a:t>
            </a: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0" lang="en-US" sz="1600" spc="-1" strike="noStrike">
                <a:solidFill>
                  <a:srgbClr val="000000"/>
                </a:solidFill>
                <a:latin typeface="Visa Dialect Regular"/>
              </a:rPr>
              <a:t> </a:t>
            </a:r>
            <a:r>
              <a:rPr b="0" lang="en-US" sz="1600" spc="-1" strike="noStrike">
                <a:solidFill>
                  <a:srgbClr val="000000"/>
                </a:solidFill>
                <a:latin typeface="Visa Dialect Regular"/>
              </a:rPr>
              <a:t>These three variables alone can explain ~98% of valuation, but this isn’t impressive or useful.</a:t>
            </a: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1" lang="en-US" sz="1600" spc="-1" strike="noStrike">
                <a:solidFill>
                  <a:srgbClr val="000000"/>
                </a:solidFill>
                <a:latin typeface="Visa Dialect Regular"/>
              </a:rPr>
              <a:t>Insight 2 – An Offensive Premium exists </a:t>
            </a: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0" lang="en-US" sz="1600" spc="-1" strike="noStrike">
                <a:solidFill>
                  <a:srgbClr val="000000"/>
                </a:solidFill>
                <a:latin typeface="Visa Dialect Regular"/>
              </a:rPr>
              <a:t> </a:t>
            </a:r>
            <a:r>
              <a:rPr b="0" lang="en-US" sz="1600" spc="-1" strike="noStrike">
                <a:solidFill>
                  <a:srgbClr val="000000"/>
                </a:solidFill>
                <a:latin typeface="Visa Dialect Regular"/>
              </a:rPr>
              <a:t>Dribbling, passing and shooting are what the market pays for Goal Threat &gt; Goal Prevention</a:t>
            </a: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1" lang="en-US" sz="1600" spc="-1" strike="noStrike">
                <a:solidFill>
                  <a:srgbClr val="000000"/>
                </a:solidFill>
                <a:latin typeface="Visa Dialect Regular"/>
              </a:rPr>
              <a:t>Insight 3 – Offensive Demands vary by position</a:t>
            </a: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0" lang="en-US" sz="1600" spc="-1" strike="noStrike">
                <a:solidFill>
                  <a:srgbClr val="000000"/>
                </a:solidFill>
                <a:latin typeface="Visa Dialect Regular"/>
              </a:rPr>
              <a:t> </a:t>
            </a:r>
            <a:r>
              <a:rPr b="0" lang="en-US" sz="1600" spc="-1" strike="noStrike">
                <a:solidFill>
                  <a:srgbClr val="000000"/>
                </a:solidFill>
                <a:latin typeface="Visa Dialect Regular"/>
              </a:rPr>
              <a:t>Whilst the market values offensive skills, it doesn’t value an identical skill-set across positions. Each position has a unique way of unlocking this “offensive premium”</a:t>
            </a: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28" name="Title 7"/>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tabLst>
                <a:tab algn="l" pos="0"/>
              </a:tabLst>
            </a:pPr>
            <a:r>
              <a:rPr b="1" lang="en-US" sz="2000" spc="-1" strike="noStrike">
                <a:solidFill>
                  <a:srgbClr val="1434cb"/>
                </a:solidFill>
                <a:latin typeface="Visa Dialect Semibold"/>
              </a:rPr>
              <a:t>Three Core Insights</a:t>
            </a:r>
            <a:endParaRPr b="0" lang="en-GB" sz="2000" spc="-1" strike="noStrike">
              <a:solidFill>
                <a:srgbClr val="000000"/>
              </a:solidFill>
              <a:latin typeface="Arial"/>
            </a:endParaRPr>
          </a:p>
        </p:txBody>
      </p:sp>
      <p:sp>
        <p:nvSpPr>
          <p:cNvPr id="129" name="Text Placeholder 1"/>
          <p:cNvSpPr/>
          <p:nvPr/>
        </p:nvSpPr>
        <p:spPr>
          <a:xfrm>
            <a:off x="609480" y="768240"/>
            <a:ext cx="10969920" cy="289440"/>
          </a:xfrm>
          <a:prstGeom prst="rect">
            <a:avLst/>
          </a:prstGeom>
          <a:noFill/>
          <a:ln w="0">
            <a:noFill/>
          </a:ln>
        </p:spPr>
        <p:style>
          <a:lnRef idx="0"/>
          <a:fillRef idx="0"/>
          <a:effectRef idx="0"/>
          <a:fontRef idx="minor"/>
        </p:style>
        <p:txBody>
          <a:bodyPr wrap="none" lIns="0" rIns="0" tIns="0" bIns="0" anchor="t">
            <a:noAutofit/>
          </a:bodyPr>
          <a:p>
            <a:pPr defTabSz="914400">
              <a:lnSpc>
                <a:spcPct val="90000"/>
              </a:lnSpc>
              <a:tabLst>
                <a:tab algn="l" pos="0"/>
              </a:tabLst>
            </a:pPr>
            <a:endParaRPr b="0" lang="en-GB" sz="1800" spc="-1" strike="noStrike">
              <a:solidFill>
                <a:srgbClr val="000000"/>
              </a:solidFill>
              <a:latin typeface="Arial"/>
            </a:endParaRPr>
          </a:p>
        </p:txBody>
      </p:sp>
      <p:sp>
        <p:nvSpPr>
          <p:cNvPr id="130" name=""/>
          <p:cNvSpPr/>
          <p:nvPr/>
        </p:nvSpPr>
        <p:spPr>
          <a:xfrm>
            <a:off x="609480" y="893520"/>
            <a:ext cx="10051560" cy="364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500" spc="-1" strike="noStrike">
                <a:solidFill>
                  <a:srgbClr val="000000"/>
                </a:solidFill>
                <a:latin typeface="Visa Dialect Regular"/>
              </a:rPr>
              <a:t>These three findings structure the rest of the analysis, each following section provides evidence and detail</a:t>
            </a:r>
            <a:endParaRPr b="0" lang="en-GB" sz="1500" spc="-1" strike="noStrike">
              <a:solidFill>
                <a:srgbClr val="000000"/>
              </a:solidFill>
              <a:latin typeface="Arial"/>
            </a:endParaRPr>
          </a:p>
        </p:txBody>
      </p:sp>
      <p:sp>
        <p:nvSpPr>
          <p:cNvPr id="131" name=""/>
          <p:cNvSpPr/>
          <p:nvPr/>
        </p:nvSpPr>
        <p:spPr>
          <a:xfrm>
            <a:off x="540000" y="6120000"/>
            <a:ext cx="900000" cy="54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Content Placeholder 3"/>
          <p:cNvSpPr/>
          <p:nvPr/>
        </p:nvSpPr>
        <p:spPr>
          <a:xfrm>
            <a:off x="609480" y="1600200"/>
            <a:ext cx="81522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601"/>
              </a:spcBef>
              <a:tabLst>
                <a:tab algn="l" pos="0"/>
              </a:tabLst>
            </a:pPr>
            <a:r>
              <a:rPr b="1" lang="en-US" sz="1600" spc="-1" strike="noStrike">
                <a:solidFill>
                  <a:srgbClr val="1434cb"/>
                </a:solidFill>
                <a:latin typeface="Visa Dialect Semibold"/>
              </a:rPr>
              <a:t>Overall, Potential &amp; age are the 1# predictors of value</a:t>
            </a:r>
            <a:endParaRPr b="0" lang="en-GB" sz="1600" spc="-1" strike="noStrike">
              <a:solidFill>
                <a:srgbClr val="000000"/>
              </a:solidFill>
              <a:latin typeface="Arial"/>
            </a:endParaRPr>
          </a:p>
          <a:p>
            <a:pPr defTabSz="914400">
              <a:lnSpc>
                <a:spcPct val="100000"/>
              </a:lnSpc>
              <a:spcBef>
                <a:spcPts val="799"/>
              </a:spcBef>
              <a:spcAft>
                <a:spcPts val="201"/>
              </a:spcAft>
              <a:tabLst>
                <a:tab algn="l" pos="0"/>
              </a:tabLst>
            </a:pPr>
            <a:r>
              <a:rPr b="0" lang="en-US" sz="1600" spc="-1" strike="noStrike">
                <a:solidFill>
                  <a:srgbClr val="000000"/>
                </a:solidFill>
                <a:latin typeface="Visa Dialect Regular"/>
              </a:rPr>
              <a:t>Overall and Potential are aggregated factors from professional FIFA scouts age adjusts the value. They are predictive but not transparent or actionable.</a:t>
            </a:r>
            <a:endParaRPr b="0" lang="en-GB" sz="1600" spc="-1" strike="noStrike">
              <a:solidFill>
                <a:srgbClr val="000000"/>
              </a:solidFill>
              <a:latin typeface="Arial"/>
            </a:endParaRPr>
          </a:p>
          <a:p>
            <a:pPr defTabSz="914400">
              <a:lnSpc>
                <a:spcPct val="100000"/>
              </a:lnSpc>
              <a:spcBef>
                <a:spcPts val="799"/>
              </a:spcBef>
              <a:spcAft>
                <a:spcPts val="201"/>
              </a:spcAft>
              <a:tabLst>
                <a:tab algn="l" pos="0"/>
              </a:tabLst>
            </a:pPr>
            <a:endParaRPr b="0" lang="en-GB" sz="1600" spc="-1" strike="noStrike">
              <a:solidFill>
                <a:srgbClr val="000000"/>
              </a:solidFill>
              <a:latin typeface="Arial"/>
            </a:endParaRPr>
          </a:p>
          <a:p>
            <a:pPr defTabSz="914400">
              <a:lnSpc>
                <a:spcPct val="100000"/>
              </a:lnSpc>
              <a:spcBef>
                <a:spcPts val="799"/>
              </a:spcBef>
              <a:spcAft>
                <a:spcPts val="201"/>
              </a:spcAft>
              <a:tabLst>
                <a:tab algn="l" pos="0"/>
              </a:tabLst>
            </a:pPr>
            <a:r>
              <a:rPr b="1" lang="en-US" sz="1600" spc="-1" strike="noStrike">
                <a:solidFill>
                  <a:srgbClr val="000000"/>
                </a:solidFill>
                <a:latin typeface="Visa Dialect Regular"/>
              </a:rPr>
              <a:t>But they are not actionable</a:t>
            </a: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0" lang="en-US" sz="1600" spc="-1" strike="noStrike">
                <a:solidFill>
                  <a:srgbClr val="000000"/>
                </a:solidFill>
                <a:latin typeface="Visa Dialect Regular"/>
              </a:rPr>
              <a:t>“ </a:t>
            </a:r>
            <a:r>
              <a:rPr b="0" lang="en-US" sz="1600" spc="-1" strike="noStrike">
                <a:solidFill>
                  <a:srgbClr val="000000"/>
                </a:solidFill>
                <a:latin typeface="Visa Dialect Regular"/>
              </a:rPr>
              <a:t>Buy the best overall player!”</a:t>
            </a: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0" lang="en-US" sz="1600" spc="-1" strike="noStrike">
                <a:solidFill>
                  <a:srgbClr val="000000"/>
                </a:solidFill>
                <a:latin typeface="Visa Dialect Regular"/>
              </a:rPr>
              <a:t>“ </a:t>
            </a:r>
            <a:r>
              <a:rPr b="0" lang="en-US" sz="1600" spc="-1" strike="noStrike">
                <a:solidFill>
                  <a:srgbClr val="000000"/>
                </a:solidFill>
                <a:latin typeface="Visa Dialect Regular"/>
              </a:rPr>
              <a:t>Buy the player with highest potential!”</a:t>
            </a: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0" lang="en-US" sz="1600" spc="-1" strike="noStrike">
                <a:solidFill>
                  <a:srgbClr val="000000"/>
                </a:solidFill>
                <a:latin typeface="Visa Dialect Regular"/>
              </a:rPr>
              <a:t>“ </a:t>
            </a:r>
            <a:r>
              <a:rPr b="0" lang="en-US" sz="1600" spc="-1" strike="noStrike">
                <a:solidFill>
                  <a:srgbClr val="000000"/>
                </a:solidFill>
                <a:latin typeface="Visa Dialect Regular"/>
              </a:rPr>
              <a:t>We have to increase the teams overall stat!”</a:t>
            </a:r>
            <a:endParaRPr b="0" lang="en-GB" sz="1600" spc="-1" strike="noStrike">
              <a:solidFill>
                <a:srgbClr val="000000"/>
              </a:solidFill>
              <a:latin typeface="Arial"/>
            </a:endParaRPr>
          </a:p>
          <a:p>
            <a:pPr lvl="3" marL="460440" indent="-228600" defTabSz="914400">
              <a:lnSpc>
                <a:spcPct val="100000"/>
              </a:lnSpc>
              <a:spcBef>
                <a:spcPts val="601"/>
              </a:spcBef>
              <a:buClr>
                <a:srgbClr val="000000"/>
              </a:buClr>
              <a:buFont typeface="Visa Dialect Regular"/>
              <a:buChar char="—"/>
              <a:tabLst>
                <a:tab algn="l" pos="0"/>
              </a:tabLst>
            </a:pPr>
            <a:r>
              <a:rPr b="0" i="1" lang="en-US" sz="1600" spc="-1" strike="noStrike">
                <a:solidFill>
                  <a:srgbClr val="000000"/>
                </a:solidFill>
                <a:latin typeface="Visa Dialect Regular"/>
              </a:rPr>
              <a:t>these are circular requests</a:t>
            </a: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r>
              <a:rPr b="1" lang="en-US" sz="2800" spc="-1" strike="noStrike">
                <a:solidFill>
                  <a:srgbClr val="1434cb"/>
                </a:solidFill>
                <a:latin typeface="Visa Dialect Semibold"/>
              </a:rPr>
              <a:t>What really drives valuation?</a:t>
            </a:r>
            <a:endParaRPr b="0" lang="en-GB" sz="2800" spc="-1" strike="noStrike">
              <a:solidFill>
                <a:srgbClr val="000000"/>
              </a:solidFill>
              <a:latin typeface="Arial"/>
            </a:endParaRPr>
          </a:p>
        </p:txBody>
      </p:sp>
      <p:sp>
        <p:nvSpPr>
          <p:cNvPr id="133" name="Title 1"/>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tabLst>
                <a:tab algn="l" pos="0"/>
              </a:tabLst>
            </a:pPr>
            <a:r>
              <a:rPr b="1" lang="en-US" sz="2000" spc="-1" strike="noStrike">
                <a:solidFill>
                  <a:srgbClr val="1434cb"/>
                </a:solidFill>
                <a:latin typeface="Visa Dialect Semibold"/>
              </a:rPr>
              <a:t>Black box predictions</a:t>
            </a:r>
            <a:endParaRPr b="0" lang="en-GB" sz="2000" spc="-1" strike="noStrike">
              <a:solidFill>
                <a:srgbClr val="000000"/>
              </a:solidFill>
              <a:latin typeface="Arial"/>
            </a:endParaRPr>
          </a:p>
        </p:txBody>
      </p:sp>
      <p:sp>
        <p:nvSpPr>
          <p:cNvPr id="134" name="Text Placeholder 2"/>
          <p:cNvSpPr/>
          <p:nvPr/>
        </p:nvSpPr>
        <p:spPr>
          <a:xfrm>
            <a:off x="609480" y="768240"/>
            <a:ext cx="10969920" cy="289440"/>
          </a:xfrm>
          <a:prstGeom prst="rect">
            <a:avLst/>
          </a:prstGeom>
          <a:noFill/>
          <a:ln w="0">
            <a:noFill/>
          </a:ln>
        </p:spPr>
        <p:style>
          <a:lnRef idx="0"/>
          <a:fillRef idx="0"/>
          <a:effectRef idx="0"/>
          <a:fontRef idx="minor"/>
        </p:style>
        <p:txBody>
          <a:bodyPr wrap="none" lIns="0" rIns="0" tIns="0" bIns="0" anchor="t">
            <a:noAutofit/>
          </a:bodyPr>
          <a:p>
            <a:pPr defTabSz="914400">
              <a:lnSpc>
                <a:spcPct val="90000"/>
              </a:lnSpc>
              <a:tabLst>
                <a:tab algn="l" pos="0"/>
              </a:tabLst>
            </a:pPr>
            <a:r>
              <a:rPr b="0" lang="en-US" sz="1600" spc="-1" strike="noStrike">
                <a:solidFill>
                  <a:srgbClr val="000000"/>
                </a:solidFill>
                <a:latin typeface="Visa Dialect Regular"/>
              </a:rPr>
              <a:t>The “best” predictors of player value on paper, don’t tell us anything useful</a:t>
            </a:r>
            <a:endParaRPr b="0" lang="en-GB" sz="1600" spc="-1" strike="noStrike">
              <a:solidFill>
                <a:srgbClr val="000000"/>
              </a:solidFill>
              <a:latin typeface="Arial"/>
            </a:endParaRPr>
          </a:p>
        </p:txBody>
      </p:sp>
      <p:sp>
        <p:nvSpPr>
          <p:cNvPr id="135" name=""/>
          <p:cNvSpPr/>
          <p:nvPr/>
        </p:nvSpPr>
        <p:spPr>
          <a:xfrm>
            <a:off x="540000" y="6207480"/>
            <a:ext cx="900000" cy="452520"/>
          </a:xfrm>
          <a:prstGeom prst="rect">
            <a:avLst/>
          </a:prstGeom>
          <a:solidFill>
            <a:srgbClr val="ffffff"/>
          </a:solidFill>
          <a:ln w="0">
            <a:solidFill>
              <a:srgbClr val="3465a4"/>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Content Placeholder 5"/>
          <p:cNvSpPr/>
          <p:nvPr/>
        </p:nvSpPr>
        <p:spPr>
          <a:xfrm>
            <a:off x="645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r>
              <a:rPr b="1" lang="en-US" sz="1600" spc="-1" strike="noStrike">
                <a:solidFill>
                  <a:srgbClr val="1434cb"/>
                </a:solidFill>
                <a:latin typeface="Visa Dialect Semibold"/>
              </a:rPr>
              <a:t>Player valuations range from €35K to €143M — a 4,000x difference</a:t>
            </a: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r>
              <a:rPr b="1" lang="en-US" sz="1600" spc="-1" strike="noStrike">
                <a:solidFill>
                  <a:srgbClr val="000000"/>
                </a:solidFill>
                <a:latin typeface="Visa Dialect Regular"/>
              </a:rPr>
              <a:t>Reverse Engineering the observable skill profiles of top earners tells us:</a:t>
            </a: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37" name="Title 3"/>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tabLst>
                <a:tab algn="l" pos="0"/>
              </a:tabLst>
            </a:pPr>
            <a:r>
              <a:rPr b="1" lang="en-US" sz="2000" spc="-1" strike="noStrike">
                <a:solidFill>
                  <a:srgbClr val="1434cb"/>
                </a:solidFill>
                <a:latin typeface="Visa Dialect Semibold"/>
              </a:rPr>
              <a:t>Why are some players so valuable?  </a:t>
            </a:r>
            <a:endParaRPr b="0" lang="en-GB" sz="2000" spc="-1" strike="noStrike">
              <a:solidFill>
                <a:srgbClr val="000000"/>
              </a:solidFill>
              <a:latin typeface="Arial"/>
            </a:endParaRPr>
          </a:p>
        </p:txBody>
      </p:sp>
      <p:sp>
        <p:nvSpPr>
          <p:cNvPr id="138" name="Text Placeholder 7"/>
          <p:cNvSpPr/>
          <p:nvPr/>
        </p:nvSpPr>
        <p:spPr>
          <a:xfrm>
            <a:off x="609480" y="789480"/>
            <a:ext cx="10969920" cy="289440"/>
          </a:xfrm>
          <a:prstGeom prst="rect">
            <a:avLst/>
          </a:prstGeom>
          <a:noFill/>
          <a:ln w="0">
            <a:noFill/>
          </a:ln>
        </p:spPr>
        <p:style>
          <a:lnRef idx="0"/>
          <a:fillRef idx="0"/>
          <a:effectRef idx="0"/>
          <a:fontRef idx="minor"/>
        </p:style>
        <p:txBody>
          <a:bodyPr wrap="none" lIns="0" rIns="0" tIns="0" bIns="0" anchor="t">
            <a:noAutofit/>
          </a:bodyPr>
          <a:p>
            <a:pPr defTabSz="914400">
              <a:lnSpc>
                <a:spcPct val="90000"/>
              </a:lnSpc>
              <a:spcBef>
                <a:spcPts val="1191"/>
              </a:spcBef>
              <a:spcAft>
                <a:spcPts val="992"/>
              </a:spcAft>
              <a:tabLst>
                <a:tab algn="l" pos="0"/>
              </a:tabLst>
            </a:pPr>
            <a:r>
              <a:rPr b="0" lang="en-US" sz="1600" spc="-1" strike="noStrike">
                <a:solidFill>
                  <a:srgbClr val="000000"/>
                </a:solidFill>
                <a:latin typeface="Visa Dialect Regular"/>
              </a:rPr>
              <a:t>By figuring out this puzzle, we get better descriptive, predictive and prescriptive analytics</a:t>
            </a:r>
            <a:endParaRPr b="0" lang="en-GB" sz="1600" spc="-1" strike="noStrike">
              <a:solidFill>
                <a:srgbClr val="000000"/>
              </a:solidFill>
              <a:latin typeface="Arial"/>
            </a:endParaRPr>
          </a:p>
        </p:txBody>
      </p:sp>
      <p:pic>
        <p:nvPicPr>
          <p:cNvPr id="139" name="" descr=""/>
          <p:cNvPicPr/>
          <p:nvPr/>
        </p:nvPicPr>
        <p:blipFill>
          <a:blip r:embed="rId1"/>
          <a:stretch/>
        </p:blipFill>
        <p:spPr>
          <a:xfrm>
            <a:off x="429480" y="3240000"/>
            <a:ext cx="10908000" cy="2207520"/>
          </a:xfrm>
          <a:prstGeom prst="rect">
            <a:avLst/>
          </a:prstGeom>
          <a:ln w="0">
            <a:noFill/>
          </a:ln>
        </p:spPr>
      </p:pic>
      <p:sp>
        <p:nvSpPr>
          <p:cNvPr id="140" name=""/>
          <p:cNvSpPr/>
          <p:nvPr/>
        </p:nvSpPr>
        <p:spPr>
          <a:xfrm>
            <a:off x="360000" y="6207480"/>
            <a:ext cx="1080000" cy="45252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 name="" descr=""/>
          <p:cNvPicPr/>
          <p:nvPr/>
        </p:nvPicPr>
        <p:blipFill>
          <a:blip r:embed="rId1"/>
          <a:stretch/>
        </p:blipFill>
        <p:spPr>
          <a:xfrm>
            <a:off x="4500000" y="540000"/>
            <a:ext cx="7018560" cy="5888880"/>
          </a:xfrm>
          <a:prstGeom prst="rect">
            <a:avLst/>
          </a:prstGeom>
          <a:ln w="0">
            <a:noFill/>
          </a:ln>
        </p:spPr>
      </p:pic>
      <p:sp>
        <p:nvSpPr>
          <p:cNvPr id="142" name="Content Placeholder 7"/>
          <p:cNvSpPr/>
          <p:nvPr/>
        </p:nvSpPr>
        <p:spPr>
          <a:xfrm>
            <a:off x="72000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43" name="Title 5"/>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tabLst>
                <a:tab algn="l" pos="0"/>
              </a:tabLst>
            </a:pPr>
            <a:r>
              <a:rPr b="1" lang="en-US" sz="1800" spc="-1" strike="noStrike">
                <a:solidFill>
                  <a:srgbClr val="1434cb"/>
                </a:solidFill>
                <a:latin typeface="Visa Dialect Semibold"/>
              </a:rPr>
              <a:t>Two kinds of Star Player emerge</a:t>
            </a:r>
            <a:endParaRPr b="0" lang="en-GB" sz="1800" spc="-1" strike="noStrike">
              <a:solidFill>
                <a:srgbClr val="000000"/>
              </a:solidFill>
              <a:latin typeface="Arial"/>
            </a:endParaRPr>
          </a:p>
        </p:txBody>
      </p:sp>
      <p:sp>
        <p:nvSpPr>
          <p:cNvPr id="144" name=""/>
          <p:cNvSpPr/>
          <p:nvPr/>
        </p:nvSpPr>
        <p:spPr>
          <a:xfrm>
            <a:off x="609480" y="713520"/>
            <a:ext cx="7669440" cy="36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Visa Dialect Regular"/>
              </a:rPr>
              <a:t>Clustering reveals two distinct elite profiles</a:t>
            </a:r>
            <a:endParaRPr b="0" lang="en-GB" sz="1600" spc="-1" strike="noStrike">
              <a:solidFill>
                <a:srgbClr val="000000"/>
              </a:solidFill>
              <a:latin typeface="Arial"/>
            </a:endParaRPr>
          </a:p>
        </p:txBody>
      </p:sp>
      <p:sp>
        <p:nvSpPr>
          <p:cNvPr id="145" name=""/>
          <p:cNvSpPr/>
          <p:nvPr/>
        </p:nvSpPr>
        <p:spPr>
          <a:xfrm>
            <a:off x="540000" y="1372680"/>
            <a:ext cx="3778560" cy="6005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00000"/>
                </a:solidFill>
                <a:latin typeface="Visa Dialect Regular"/>
              </a:rPr>
              <a:t>Differences in Star players?</a:t>
            </a:r>
            <a:endParaRPr b="0" lang="en-GB" sz="1600" spc="-1" strike="noStrike">
              <a:solidFill>
                <a:srgbClr val="000000"/>
              </a:solidFill>
              <a:latin typeface="Arial"/>
            </a:endParaRPr>
          </a:p>
          <a:p>
            <a:pPr>
              <a:lnSpc>
                <a:spcPct val="100000"/>
              </a:lnSpc>
            </a:pPr>
            <a:r>
              <a:rPr b="1" lang="en-US" sz="1400" spc="-1" strike="noStrike">
                <a:solidFill>
                  <a:srgbClr val="000000"/>
                </a:solidFill>
                <a:latin typeface="Visa Dialect Regular"/>
              </a:rPr>
              <a:t>1. </a:t>
            </a:r>
            <a:r>
              <a:rPr b="0" lang="en-US" sz="1400" spc="-1" strike="noStrike">
                <a:solidFill>
                  <a:srgbClr val="000000"/>
                </a:solidFill>
                <a:latin typeface="Visa Dialect Regular"/>
              </a:rPr>
              <a:t>Offensive stars excel in pace, dribbling, passing, and shooting. Defensive stars concentrate skills in physic and defending.</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rgbClr val="000000"/>
                </a:solidFill>
                <a:latin typeface="Visa Dialect Regular"/>
              </a:rPr>
              <a:t>2</a:t>
            </a:r>
            <a:r>
              <a:rPr b="0" lang="en-US" sz="1400" spc="-1" strike="noStrike">
                <a:solidFill>
                  <a:srgbClr val="000000"/>
                </a:solidFill>
                <a:latin typeface="Visa Dialect Regular"/>
              </a:rPr>
              <a:t>. Offensive profiles are broad; defensive profiles are specialized Attackers maintain strength across multiple attacking skills, while defenders peak in a narrow set.</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rgbClr val="000000"/>
                </a:solidFill>
                <a:latin typeface="Visa Dialect Regular"/>
              </a:rPr>
              <a:t>3. </a:t>
            </a:r>
            <a:r>
              <a:rPr b="0" lang="en-US" sz="1400" spc="-1" strike="noStrike">
                <a:solidFill>
                  <a:srgbClr val="000000"/>
                </a:solidFill>
                <a:latin typeface="Visa Dialect Regular"/>
              </a:rPr>
              <a:t>The two archetypes occupy distinct skill profiles. Differences reflect structural variation in skill composition, not small ability gaps.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i="1" lang="en-US" sz="1400" spc="-1" strike="noStrike">
                <a:solidFill>
                  <a:srgbClr val="000000"/>
                </a:solidFill>
                <a:latin typeface="Visa Dialect Regular"/>
              </a:rPr>
              <a:t>- Both these profiles serve as a useful benchmark for comparison.</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000" spc="-1" strike="noStrike">
              <a:solidFill>
                <a:srgbClr val="000000"/>
              </a:solidFill>
              <a:latin typeface="Arial"/>
            </a:endParaRPr>
          </a:p>
          <a:p>
            <a:pPr>
              <a:lnSpc>
                <a:spcPct val="100000"/>
              </a:lnSpc>
            </a:pPr>
            <a:endParaRPr b="0" lang="en-GB" sz="1000" spc="-1" strike="noStrike">
              <a:solidFill>
                <a:srgbClr val="000000"/>
              </a:solidFill>
              <a:latin typeface="Arial"/>
            </a:endParaRPr>
          </a:p>
          <a:p>
            <a:pPr>
              <a:lnSpc>
                <a:spcPct val="100000"/>
              </a:lnSpc>
            </a:pPr>
            <a:endParaRPr b="0" lang="en-GB" sz="1600" spc="-1" strike="noStrike">
              <a:solidFill>
                <a:srgbClr val="000000"/>
              </a:solidFill>
              <a:latin typeface="Arial"/>
            </a:endParaRPr>
          </a:p>
          <a:p>
            <a:pPr>
              <a:lnSpc>
                <a:spcPct val="100000"/>
              </a:lnSpc>
            </a:pPr>
            <a:endParaRPr b="0" lang="en-GB" sz="1600" spc="-1" strike="noStrike">
              <a:solidFill>
                <a:srgbClr val="000000"/>
              </a:solidFill>
              <a:latin typeface="Arial"/>
            </a:endParaRPr>
          </a:p>
          <a:p>
            <a:pPr>
              <a:lnSpc>
                <a:spcPct val="100000"/>
              </a:lnSpc>
            </a:pPr>
            <a:endParaRPr b="0" lang="en-GB" sz="1600" spc="-1" strike="noStrike">
              <a:solidFill>
                <a:srgbClr val="000000"/>
              </a:solidFill>
              <a:latin typeface="Arial"/>
            </a:endParaRPr>
          </a:p>
          <a:p>
            <a:pPr>
              <a:lnSpc>
                <a:spcPct val="100000"/>
              </a:lnSpc>
            </a:pPr>
            <a:endParaRPr b="0" lang="en-GB" sz="1600" spc="-1" strike="noStrike">
              <a:solidFill>
                <a:srgbClr val="000000"/>
              </a:solidFill>
              <a:latin typeface="Arial"/>
            </a:endParaRPr>
          </a:p>
        </p:txBody>
      </p:sp>
      <p:sp>
        <p:nvSpPr>
          <p:cNvPr id="146" name=""/>
          <p:cNvSpPr/>
          <p:nvPr/>
        </p:nvSpPr>
        <p:spPr>
          <a:xfrm>
            <a:off x="540000" y="6120000"/>
            <a:ext cx="900000" cy="54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Content Placeholder 13"/>
          <p:cNvSpPr/>
          <p:nvPr/>
        </p:nvSpPr>
        <p:spPr>
          <a:xfrm>
            <a:off x="429480" y="1350000"/>
            <a:ext cx="3348000" cy="47674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r>
              <a:rPr b="1" lang="en-US" sz="1600" spc="-1" strike="noStrike">
                <a:solidFill>
                  <a:srgbClr val="000000"/>
                </a:solidFill>
                <a:latin typeface="Visa Dialect Regular"/>
              </a:rPr>
              <a:t>The Offensive Premium</a:t>
            </a: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r>
              <a:rPr b="1" lang="en-US" sz="1600" spc="-1" strike="noStrike">
                <a:solidFill>
                  <a:srgbClr val="000000"/>
                </a:solidFill>
                <a:latin typeface="Visa Dialect Regular"/>
              </a:rPr>
              <a:t>1.</a:t>
            </a:r>
            <a:r>
              <a:rPr b="0" lang="en-US" sz="1600" spc="-1" strike="noStrike">
                <a:solidFill>
                  <a:srgbClr val="000000"/>
                </a:solidFill>
                <a:latin typeface="Visa Dialect Regular"/>
              </a:rPr>
              <a:t> Elite Offensive players are worth 2.6x their Defensive counterparts.</a:t>
            </a: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r>
              <a:rPr b="1" lang="en-US" sz="1600" spc="-1" strike="noStrike">
                <a:solidFill>
                  <a:srgbClr val="000000"/>
                </a:solidFill>
                <a:latin typeface="Visa Dialect Regular"/>
              </a:rPr>
              <a:t>2.</a:t>
            </a:r>
            <a:r>
              <a:rPr b="0" lang="en-US" sz="1600" spc="-1" strike="noStrike">
                <a:solidFill>
                  <a:srgbClr val="000000"/>
                </a:solidFill>
                <a:latin typeface="Visa Dialect Regular"/>
              </a:rPr>
              <a:t> Within the same leagues, within the same clubs, even within the same positions, offensive play-styles are rewarded more.</a:t>
            </a: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r>
              <a:rPr b="1" lang="en-US" sz="1600" spc="-1" strike="noStrike">
                <a:solidFill>
                  <a:srgbClr val="000000"/>
                </a:solidFill>
                <a:latin typeface="Visa Dialect Regular"/>
              </a:rPr>
              <a:t>3. </a:t>
            </a:r>
            <a:r>
              <a:rPr b="0" lang="en-US" sz="1600" spc="-1" strike="noStrike">
                <a:solidFill>
                  <a:srgbClr val="000000"/>
                </a:solidFill>
                <a:latin typeface="Visa Dialect Regular"/>
              </a:rPr>
              <a:t>The market values offensive skills, dribbling, passing, shooting — significantly more than defensive ability.</a:t>
            </a: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p:txBody>
      </p:sp>
      <p:sp>
        <p:nvSpPr>
          <p:cNvPr id="148" name="Title 9"/>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tabLst>
                <a:tab algn="l" pos="0"/>
              </a:tabLst>
            </a:pPr>
            <a:r>
              <a:rPr b="1" lang="en-US" sz="1800" spc="-1" strike="noStrike">
                <a:solidFill>
                  <a:srgbClr val="1434cb"/>
                </a:solidFill>
                <a:latin typeface="Visa Dialect Semibold"/>
              </a:rPr>
              <a:t>There are valuation differences even among the top players</a:t>
            </a:r>
            <a:endParaRPr b="0" lang="en-GB" sz="1800" spc="-1" strike="noStrike">
              <a:solidFill>
                <a:srgbClr val="000000"/>
              </a:solidFill>
              <a:latin typeface="Arial"/>
            </a:endParaRPr>
          </a:p>
        </p:txBody>
      </p:sp>
      <p:pic>
        <p:nvPicPr>
          <p:cNvPr id="149" name="" descr=""/>
          <p:cNvPicPr/>
          <p:nvPr/>
        </p:nvPicPr>
        <p:blipFill>
          <a:blip r:embed="rId1"/>
          <a:stretch/>
        </p:blipFill>
        <p:spPr>
          <a:xfrm>
            <a:off x="4140000" y="1080000"/>
            <a:ext cx="7513200" cy="5475600"/>
          </a:xfrm>
          <a:prstGeom prst="rect">
            <a:avLst/>
          </a:prstGeom>
          <a:ln w="0">
            <a:noFill/>
          </a:ln>
        </p:spPr>
      </p:pic>
      <p:sp>
        <p:nvSpPr>
          <p:cNvPr id="150" name=""/>
          <p:cNvSpPr/>
          <p:nvPr/>
        </p:nvSpPr>
        <p:spPr>
          <a:xfrm>
            <a:off x="540000" y="6120000"/>
            <a:ext cx="720000" cy="54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Content Placeholder 10"/>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52" name="Title 6"/>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tabLst>
                <a:tab algn="l" pos="0"/>
              </a:tabLst>
            </a:pPr>
            <a:r>
              <a:rPr b="1" lang="en-US" sz="1800" spc="-1" strike="noStrike">
                <a:solidFill>
                  <a:srgbClr val="1434cb"/>
                </a:solidFill>
                <a:latin typeface="Visa Dialect Semibold"/>
              </a:rPr>
              <a:t>Only one kind of improvement is rewarded</a:t>
            </a:r>
            <a:endParaRPr b="0" lang="en-GB" sz="1800" spc="-1" strike="noStrike">
              <a:solidFill>
                <a:srgbClr val="000000"/>
              </a:solidFill>
              <a:latin typeface="Arial"/>
            </a:endParaRPr>
          </a:p>
        </p:txBody>
      </p:sp>
      <p:sp>
        <p:nvSpPr>
          <p:cNvPr id="153" name="Content Placeholder 17"/>
          <p:cNvSpPr/>
          <p:nvPr/>
        </p:nvSpPr>
        <p:spPr>
          <a:xfrm>
            <a:off x="540000" y="1080000"/>
            <a:ext cx="3348000" cy="47674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r>
              <a:rPr b="1" lang="en-US" sz="1600" spc="-1" strike="noStrike">
                <a:solidFill>
                  <a:srgbClr val="000000"/>
                </a:solidFill>
                <a:latin typeface="Visa Dialect Regular"/>
              </a:rPr>
              <a:t>What development pays off?</a:t>
            </a: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r>
              <a:rPr b="1" lang="en-US" sz="1400" spc="-1" strike="noStrike">
                <a:solidFill>
                  <a:srgbClr val="000000"/>
                </a:solidFill>
                <a:latin typeface="Visa Dialect Regular"/>
              </a:rPr>
              <a:t>1. </a:t>
            </a:r>
            <a:r>
              <a:rPr b="0" lang="en-US" sz="1400" spc="-1" strike="noStrike">
                <a:solidFill>
                  <a:srgbClr val="000000"/>
                </a:solidFill>
                <a:latin typeface="Visa Dialect Regular"/>
              </a:rPr>
              <a:t>Offensive development adds €550K–€880K in value across all positions. </a:t>
            </a:r>
            <a:endParaRPr b="0" lang="en-GB" sz="1400" spc="-1" strike="noStrike">
              <a:solidFill>
                <a:srgbClr val="000000"/>
              </a:solidFill>
              <a:latin typeface="Arial"/>
            </a:endParaRPr>
          </a:p>
          <a:p>
            <a:pPr defTabSz="914400">
              <a:lnSpc>
                <a:spcPct val="100000"/>
              </a:lnSpc>
              <a:spcBef>
                <a:spcPts val="1191"/>
              </a:spcBef>
              <a:spcAft>
                <a:spcPts val="992"/>
              </a:spcAft>
              <a:tabLst>
                <a:tab algn="l" pos="0"/>
              </a:tabLst>
            </a:pPr>
            <a:r>
              <a:rPr b="1" lang="en-US" sz="1400" spc="-1" strike="noStrike">
                <a:solidFill>
                  <a:srgbClr val="000000"/>
                </a:solidFill>
                <a:latin typeface="Visa Dialect Regular"/>
              </a:rPr>
              <a:t>2. </a:t>
            </a:r>
            <a:r>
              <a:rPr b="0" lang="en-US" sz="1400" spc="-1" strike="noStrike">
                <a:solidFill>
                  <a:srgbClr val="000000"/>
                </a:solidFill>
                <a:latin typeface="Visa Dialect Regular"/>
              </a:rPr>
              <a:t>Even defenders gain ~1.9x more from developing offensive skills (€550K) than defensive ones (€310K).</a:t>
            </a:r>
            <a:endParaRPr b="0" lang="en-GB" sz="1400" spc="-1" strike="noStrike">
              <a:solidFill>
                <a:srgbClr val="000000"/>
              </a:solidFill>
              <a:latin typeface="Arial"/>
            </a:endParaRPr>
          </a:p>
          <a:p>
            <a:pPr defTabSz="914400">
              <a:lnSpc>
                <a:spcPct val="100000"/>
              </a:lnSpc>
              <a:spcBef>
                <a:spcPts val="1191"/>
              </a:spcBef>
              <a:spcAft>
                <a:spcPts val="992"/>
              </a:spcAft>
              <a:tabLst>
                <a:tab algn="l" pos="0"/>
              </a:tabLst>
            </a:pPr>
            <a:r>
              <a:rPr b="1" lang="en-US" sz="1400" spc="-1" strike="noStrike">
                <a:solidFill>
                  <a:srgbClr val="000000"/>
                </a:solidFill>
                <a:latin typeface="Visa Dialect Regular"/>
              </a:rPr>
              <a:t>3. </a:t>
            </a:r>
            <a:r>
              <a:rPr b="0" lang="en-US" sz="1400" spc="-1" strike="noStrike">
                <a:solidFill>
                  <a:srgbClr val="000000"/>
                </a:solidFill>
                <a:latin typeface="Visa Dialect Regular"/>
              </a:rPr>
              <a:t>For attackers and midfielders, defensive specialization is actively penalized.</a:t>
            </a:r>
            <a:endParaRPr b="0" lang="en-GB" sz="1400" spc="-1" strike="noStrike">
              <a:solidFill>
                <a:srgbClr val="000000"/>
              </a:solidFill>
              <a:latin typeface="Arial"/>
            </a:endParaRPr>
          </a:p>
          <a:p>
            <a:pPr defTabSz="914400">
              <a:lnSpc>
                <a:spcPct val="100000"/>
              </a:lnSpc>
              <a:spcBef>
                <a:spcPts val="1191"/>
              </a:spcBef>
              <a:spcAft>
                <a:spcPts val="992"/>
              </a:spcAft>
              <a:tabLst>
                <a:tab algn="l" pos="0"/>
              </a:tabLst>
            </a:pPr>
            <a:r>
              <a:rPr b="0" i="1" lang="en-US" sz="1200" spc="-1" strike="noStrike">
                <a:solidFill>
                  <a:srgbClr val="000000"/>
                </a:solidFill>
                <a:latin typeface="Visa Dialect Regular"/>
              </a:rPr>
              <a:t>The market prices proximity to an ideal player archetype — and value growth comes from closing that gap</a:t>
            </a:r>
            <a:endParaRPr b="0" lang="en-GB" sz="1200" spc="-1" strike="noStrike">
              <a:solidFill>
                <a:srgbClr val="000000"/>
              </a:solidFill>
              <a:latin typeface="Arial"/>
            </a:endParaRPr>
          </a:p>
          <a:p>
            <a:pPr defTabSz="914400">
              <a:lnSpc>
                <a:spcPct val="100000"/>
              </a:lnSpc>
              <a:spcBef>
                <a:spcPts val="1191"/>
              </a:spcBef>
              <a:spcAft>
                <a:spcPts val="992"/>
              </a:spcAft>
              <a:tabLst>
                <a:tab algn="l" pos="0"/>
              </a:tabLst>
            </a:pPr>
            <a:endParaRPr b="0" lang="en-GB" sz="1400" spc="-1" strike="noStrike">
              <a:solidFill>
                <a:srgbClr val="000000"/>
              </a:solidFill>
              <a:latin typeface="Arial"/>
            </a:endParaRPr>
          </a:p>
          <a:p>
            <a:pPr defTabSz="914400">
              <a:lnSpc>
                <a:spcPct val="100000"/>
              </a:lnSpc>
              <a:spcBef>
                <a:spcPts val="1191"/>
              </a:spcBef>
              <a:spcAft>
                <a:spcPts val="992"/>
              </a:spcAft>
              <a:tabLst>
                <a:tab algn="l" pos="0"/>
              </a:tabLst>
            </a:pPr>
            <a:endParaRPr b="0" lang="en-GB" sz="1000" spc="-1" strike="noStrike">
              <a:solidFill>
                <a:srgbClr val="000000"/>
              </a:solidFill>
              <a:latin typeface="Arial"/>
            </a:endParaRPr>
          </a:p>
          <a:p>
            <a:pPr defTabSz="914400">
              <a:lnSpc>
                <a:spcPct val="100000"/>
              </a:lnSpc>
              <a:spcBef>
                <a:spcPts val="1191"/>
              </a:spcBef>
              <a:spcAft>
                <a:spcPts val="992"/>
              </a:spcAft>
              <a:tabLst>
                <a:tab algn="l" pos="0"/>
              </a:tabLst>
            </a:pPr>
            <a:endParaRPr b="0" lang="en-GB" sz="1000" spc="-1" strike="noStrike">
              <a:solidFill>
                <a:srgbClr val="000000"/>
              </a:solidFill>
              <a:latin typeface="Arial"/>
            </a:endParaRPr>
          </a:p>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p:txBody>
      </p:sp>
      <p:pic>
        <p:nvPicPr>
          <p:cNvPr id="154" name="" descr=""/>
          <p:cNvPicPr/>
          <p:nvPr/>
        </p:nvPicPr>
        <p:blipFill>
          <a:blip r:embed="rId1"/>
          <a:stretch/>
        </p:blipFill>
        <p:spPr>
          <a:xfrm>
            <a:off x="4140000" y="789480"/>
            <a:ext cx="7561080" cy="5292720"/>
          </a:xfrm>
          <a:prstGeom prst="rect">
            <a:avLst/>
          </a:prstGeom>
          <a:ln w="0">
            <a:noFill/>
          </a:ln>
        </p:spPr>
      </p:pic>
      <p:sp>
        <p:nvSpPr>
          <p:cNvPr id="155" name=""/>
          <p:cNvSpPr/>
          <p:nvPr/>
        </p:nvSpPr>
        <p:spPr>
          <a:xfrm>
            <a:off x="540000" y="6120000"/>
            <a:ext cx="720000" cy="36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Content Placeholder 18"/>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57" name="Title 10"/>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tabLst>
                <a:tab algn="l" pos="0"/>
              </a:tabLst>
            </a:pPr>
            <a:r>
              <a:rPr b="1" lang="en-US" sz="1800" spc="-1" strike="noStrike">
                <a:solidFill>
                  <a:srgbClr val="1434cb"/>
                </a:solidFill>
                <a:latin typeface="Visa Dialect Semibold"/>
              </a:rPr>
              <a:t>Marginal Returns of Offensive Development</a:t>
            </a:r>
            <a:endParaRPr b="0" lang="en-GB" sz="1800" spc="-1" strike="noStrike">
              <a:solidFill>
                <a:srgbClr val="000000"/>
              </a:solidFill>
              <a:latin typeface="Arial"/>
            </a:endParaRPr>
          </a:p>
        </p:txBody>
      </p:sp>
      <p:pic>
        <p:nvPicPr>
          <p:cNvPr id="158" name="" descr=""/>
          <p:cNvPicPr/>
          <p:nvPr/>
        </p:nvPicPr>
        <p:blipFill>
          <a:blip r:embed="rId1"/>
          <a:stretch/>
        </p:blipFill>
        <p:spPr>
          <a:xfrm>
            <a:off x="54000" y="1060920"/>
            <a:ext cx="12003480" cy="4946760"/>
          </a:xfrm>
          <a:prstGeom prst="rect">
            <a:avLst/>
          </a:prstGeom>
          <a:ln w="0">
            <a:noFill/>
          </a:ln>
        </p:spPr>
      </p:pic>
      <p:sp>
        <p:nvSpPr>
          <p:cNvPr id="159" name=""/>
          <p:cNvSpPr/>
          <p:nvPr/>
        </p:nvSpPr>
        <p:spPr>
          <a:xfrm>
            <a:off x="540000" y="720000"/>
            <a:ext cx="8636760" cy="365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000000"/>
                </a:solidFill>
                <a:latin typeface="Visa Dialect Regular"/>
              </a:rPr>
              <a:t>Valuation gains from bad → avg → good → great → world class </a:t>
            </a:r>
            <a:endParaRPr b="0" lang="en-GB" sz="1200" spc="-1" strike="noStrike">
              <a:solidFill>
                <a:srgbClr val="000000"/>
              </a:solidFill>
              <a:latin typeface="Arial"/>
            </a:endParaRPr>
          </a:p>
        </p:txBody>
      </p:sp>
      <p:sp>
        <p:nvSpPr>
          <p:cNvPr id="160" name=""/>
          <p:cNvSpPr/>
          <p:nvPr/>
        </p:nvSpPr>
        <p:spPr>
          <a:xfrm>
            <a:off x="360000" y="6120000"/>
            <a:ext cx="900000" cy="54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Content Placeholder 19"/>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62" name="Title 11"/>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r>
              <a:rPr b="1" lang="en-US" sz="1600" spc="-1" strike="noStrike">
                <a:solidFill>
                  <a:srgbClr val="1434cb"/>
                </a:solidFill>
                <a:latin typeface="Visa Dialect Semibold"/>
              </a:rPr>
              <a:t>Offensive Premium is captured differently based on position</a:t>
            </a:r>
            <a:endParaRPr b="0" lang="en-GB" sz="1600" spc="-1" strike="noStrike">
              <a:solidFill>
                <a:srgbClr val="000000"/>
              </a:solidFill>
              <a:latin typeface="Arial"/>
            </a:endParaRPr>
          </a:p>
        </p:txBody>
      </p:sp>
      <p:sp>
        <p:nvSpPr>
          <p:cNvPr id="163" name=""/>
          <p:cNvSpPr/>
          <p:nvPr/>
        </p:nvSpPr>
        <p:spPr>
          <a:xfrm>
            <a:off x="540000" y="728640"/>
            <a:ext cx="10437480" cy="6393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n-US" sz="1600" spc="-1" strike="noStrike">
                <a:solidFill>
                  <a:srgbClr val="000000"/>
                </a:solidFill>
                <a:latin typeface="Visa Dialect Regular"/>
              </a:rPr>
              <a:t>Which specific skills move players closer to the offensive ideal – broken down by position </a:t>
            </a:r>
            <a:endParaRPr b="0" lang="en-GB" sz="1600" spc="-1" strike="noStrike">
              <a:solidFill>
                <a:srgbClr val="000000"/>
              </a:solidFill>
              <a:latin typeface="Arial"/>
            </a:endParaRPr>
          </a:p>
        </p:txBody>
      </p:sp>
      <p:pic>
        <p:nvPicPr>
          <p:cNvPr id="164" name="" descr=""/>
          <p:cNvPicPr/>
          <p:nvPr/>
        </p:nvPicPr>
        <p:blipFill>
          <a:blip r:embed="rId1"/>
          <a:stretch/>
        </p:blipFill>
        <p:spPr>
          <a:xfrm>
            <a:off x="274680" y="1260000"/>
            <a:ext cx="10884240" cy="4318920"/>
          </a:xfrm>
          <a:prstGeom prst="rect">
            <a:avLst/>
          </a:prstGeom>
          <a:ln w="0">
            <a:noFill/>
          </a:ln>
        </p:spPr>
      </p:pic>
      <p:sp>
        <p:nvSpPr>
          <p:cNvPr id="165" name=""/>
          <p:cNvSpPr/>
          <p:nvPr/>
        </p:nvSpPr>
        <p:spPr>
          <a:xfrm>
            <a:off x="540000" y="6207480"/>
            <a:ext cx="720000" cy="45252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Content Placeholder 20"/>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67" name="Title 12"/>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r>
              <a:rPr b="1" lang="en-US" sz="1800" spc="-1" strike="noStrike">
                <a:solidFill>
                  <a:srgbClr val="1434cb"/>
                </a:solidFill>
                <a:latin typeface="Visa Dialect Semibold"/>
              </a:rPr>
              <a:t>Offensive Premiums on the table</a:t>
            </a:r>
            <a:endParaRPr b="0" lang="en-GB" sz="1800" spc="-1" strike="noStrike">
              <a:solidFill>
                <a:srgbClr val="000000"/>
              </a:solidFill>
              <a:latin typeface="Arial"/>
            </a:endParaRPr>
          </a:p>
        </p:txBody>
      </p:sp>
      <p:sp>
        <p:nvSpPr>
          <p:cNvPr id="168" name=""/>
          <p:cNvSpPr/>
          <p:nvPr/>
        </p:nvSpPr>
        <p:spPr>
          <a:xfrm>
            <a:off x="540000" y="721080"/>
            <a:ext cx="10510920" cy="63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Visa Dialect Regular"/>
              </a:rPr>
              <a:t>Estimates on realistically capture-able Offensive Premiums.</a:t>
            </a:r>
            <a:endParaRPr b="0" lang="en-GB" sz="1600" spc="-1" strike="noStrike">
              <a:solidFill>
                <a:srgbClr val="000000"/>
              </a:solidFill>
              <a:latin typeface="Arial"/>
            </a:endParaRPr>
          </a:p>
        </p:txBody>
      </p:sp>
      <p:pic>
        <p:nvPicPr>
          <p:cNvPr id="169" name="" descr=""/>
          <p:cNvPicPr/>
          <p:nvPr/>
        </p:nvPicPr>
        <p:blipFill>
          <a:blip r:embed="rId1"/>
          <a:stretch/>
        </p:blipFill>
        <p:spPr>
          <a:xfrm>
            <a:off x="0" y="1362960"/>
            <a:ext cx="11877480" cy="4574520"/>
          </a:xfrm>
          <a:prstGeom prst="rect">
            <a:avLst/>
          </a:prstGeom>
          <a:ln w="0">
            <a:noFill/>
          </a:ln>
        </p:spPr>
      </p:pic>
      <p:sp>
        <p:nvSpPr>
          <p:cNvPr id="170" name=""/>
          <p:cNvSpPr/>
          <p:nvPr/>
        </p:nvSpPr>
        <p:spPr>
          <a:xfrm>
            <a:off x="360000" y="6207480"/>
            <a:ext cx="900000" cy="45252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Content Placeholder 21"/>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72" name="Title 13"/>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r>
              <a:rPr b="1" lang="en-US" sz="2000" spc="-1" strike="noStrike">
                <a:solidFill>
                  <a:srgbClr val="1434cb"/>
                </a:solidFill>
                <a:latin typeface="Visa Dialect Semibold"/>
                <a:ea typeface="Noto Sans CJK SC"/>
              </a:rPr>
              <a:t>Model Validation : Who should we actually buy?</a:t>
            </a:r>
            <a:endParaRPr b="0" lang="en-GB" sz="2000" spc="-1" strike="noStrike">
              <a:solidFill>
                <a:srgbClr val="000000"/>
              </a:solidFill>
              <a:latin typeface="Arial"/>
            </a:endParaRPr>
          </a:p>
        </p:txBody>
      </p:sp>
      <p:sp>
        <p:nvSpPr>
          <p:cNvPr id="173" name=""/>
          <p:cNvSpPr/>
          <p:nvPr/>
        </p:nvSpPr>
        <p:spPr>
          <a:xfrm>
            <a:off x="609480" y="798120"/>
            <a:ext cx="10510920" cy="63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Visa Dialect Regular"/>
              </a:rPr>
              <a:t>Market model predictions versus Reality</a:t>
            </a:r>
            <a:endParaRPr b="0" lang="en-GB" sz="1600" spc="-1" strike="noStrike">
              <a:solidFill>
                <a:srgbClr val="000000"/>
              </a:solidFill>
              <a:latin typeface="Arial"/>
            </a:endParaRPr>
          </a:p>
        </p:txBody>
      </p:sp>
      <p:sp>
        <p:nvSpPr>
          <p:cNvPr id="174" name="Title 2"/>
          <p:cNvSpPr/>
          <p:nvPr/>
        </p:nvSpPr>
        <p:spPr>
          <a:xfrm>
            <a:off x="609480" y="53100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endParaRPr b="0" lang="en-GB" sz="1800" spc="-1" strike="noStrike">
              <a:solidFill>
                <a:srgbClr val="000000"/>
              </a:solidFill>
              <a:latin typeface="Arial"/>
            </a:endParaRPr>
          </a:p>
        </p:txBody>
      </p:sp>
      <p:pic>
        <p:nvPicPr>
          <p:cNvPr id="175" name="" descr=""/>
          <p:cNvPicPr/>
          <p:nvPr/>
        </p:nvPicPr>
        <p:blipFill>
          <a:blip r:embed="rId1"/>
          <a:stretch/>
        </p:blipFill>
        <p:spPr>
          <a:xfrm>
            <a:off x="4595760" y="972000"/>
            <a:ext cx="7414920" cy="5657400"/>
          </a:xfrm>
          <a:prstGeom prst="rect">
            <a:avLst/>
          </a:prstGeom>
          <a:ln w="0">
            <a:noFill/>
          </a:ln>
        </p:spPr>
      </p:pic>
      <p:sp>
        <p:nvSpPr>
          <p:cNvPr id="176" name=""/>
          <p:cNvSpPr/>
          <p:nvPr/>
        </p:nvSpPr>
        <p:spPr>
          <a:xfrm>
            <a:off x="785520" y="1384920"/>
            <a:ext cx="3713040" cy="5247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00000"/>
                </a:solidFill>
                <a:latin typeface="Visa Dialect Regular"/>
              </a:rPr>
              <a:t>How we scan for ideal candidates:</a:t>
            </a:r>
            <a:endParaRPr b="0" lang="en-GB" sz="16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rgbClr val="000000"/>
                </a:solidFill>
                <a:latin typeface="Visa Dialect Regular"/>
              </a:rPr>
              <a:t>1.</a:t>
            </a:r>
            <a:r>
              <a:rPr b="0" lang="en-US" sz="1400" spc="-1" strike="noStrike">
                <a:solidFill>
                  <a:srgbClr val="000000"/>
                </a:solidFill>
                <a:latin typeface="Visa Dialect Regular"/>
              </a:rPr>
              <a:t>Finds players closest to the next elite skill tier. Targets those needing the smallest improvements to progress.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rgbClr val="000000"/>
                </a:solidFill>
                <a:latin typeface="Visa Dialect Regular"/>
              </a:rPr>
              <a:t>2.</a:t>
            </a:r>
            <a:r>
              <a:rPr b="0" lang="en-US" sz="1400" spc="-1" strike="noStrike">
                <a:solidFill>
                  <a:srgbClr val="000000"/>
                </a:solidFill>
                <a:latin typeface="Visa Dialect Regular"/>
              </a:rPr>
              <a:t>Applies position-specific skill priorities. Evaluates defenders, midfielders, and attackers using different skill weights.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1" lang="en-US" sz="1400" spc="-1" strike="noStrike">
                <a:solidFill>
                  <a:srgbClr val="000000"/>
                </a:solidFill>
                <a:latin typeface="Visa Dialect Regular"/>
              </a:rPr>
              <a:t>3.</a:t>
            </a:r>
            <a:r>
              <a:rPr b="0" lang="en-US" sz="1400" spc="-1" strike="noStrike">
                <a:solidFill>
                  <a:srgbClr val="000000"/>
                </a:solidFill>
                <a:latin typeface="Visa Dialect Regular"/>
              </a:rPr>
              <a:t>Ranks players by development feasibility. Combines age &amp; effort required, to determine success likelihood.</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endParaRPr b="0" lang="en-GB" sz="1000" spc="-1" strike="noStrike">
              <a:solidFill>
                <a:srgbClr val="000000"/>
              </a:solidFill>
              <a:latin typeface="Arial"/>
            </a:endParaRPr>
          </a:p>
          <a:p>
            <a:pPr>
              <a:lnSpc>
                <a:spcPct val="100000"/>
              </a:lnSpc>
            </a:pPr>
            <a:endParaRPr b="0" lang="en-GB" sz="1000" spc="-1" strike="noStrike">
              <a:solidFill>
                <a:srgbClr val="000000"/>
              </a:solidFill>
              <a:latin typeface="Arial"/>
            </a:endParaRPr>
          </a:p>
          <a:p>
            <a:pPr>
              <a:lnSpc>
                <a:spcPct val="100000"/>
              </a:lnSpc>
            </a:pPr>
            <a:endParaRPr b="0" lang="en-GB" sz="1600" spc="-1" strike="noStrike">
              <a:solidFill>
                <a:srgbClr val="000000"/>
              </a:solidFill>
              <a:latin typeface="Arial"/>
            </a:endParaRPr>
          </a:p>
          <a:p>
            <a:pPr>
              <a:lnSpc>
                <a:spcPct val="100000"/>
              </a:lnSpc>
            </a:pPr>
            <a:endParaRPr b="0" lang="en-GB" sz="1600" spc="-1" strike="noStrike">
              <a:solidFill>
                <a:srgbClr val="000000"/>
              </a:solidFill>
              <a:latin typeface="Arial"/>
            </a:endParaRPr>
          </a:p>
          <a:p>
            <a:pPr>
              <a:lnSpc>
                <a:spcPct val="100000"/>
              </a:lnSpc>
            </a:pPr>
            <a:endParaRPr b="0" lang="en-GB" sz="1600" spc="-1" strike="noStrike">
              <a:solidFill>
                <a:srgbClr val="000000"/>
              </a:solidFill>
              <a:latin typeface="Arial"/>
            </a:endParaRPr>
          </a:p>
          <a:p>
            <a:pPr>
              <a:lnSpc>
                <a:spcPct val="100000"/>
              </a:lnSpc>
            </a:pPr>
            <a:endParaRPr b="0" lang="en-GB" sz="1600" spc="-1" strike="noStrike">
              <a:solidFill>
                <a:srgbClr val="000000"/>
              </a:solidFill>
              <a:latin typeface="Arial"/>
            </a:endParaRPr>
          </a:p>
        </p:txBody>
      </p:sp>
      <p:sp>
        <p:nvSpPr>
          <p:cNvPr id="177" name=""/>
          <p:cNvSpPr/>
          <p:nvPr/>
        </p:nvSpPr>
        <p:spPr>
          <a:xfrm>
            <a:off x="540000" y="6207480"/>
            <a:ext cx="720000" cy="45252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Content Placeholder 4"/>
          <p:cNvSpPr/>
          <p:nvPr/>
        </p:nvSpPr>
        <p:spPr>
          <a:xfrm>
            <a:off x="645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79" name="Title 14"/>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r>
              <a:rPr b="1" lang="en-US" sz="2000" spc="-1" strike="noStrike">
                <a:solidFill>
                  <a:srgbClr val="1434cb"/>
                </a:solidFill>
                <a:latin typeface="Visa Dialect Semibold"/>
                <a:ea typeface="Noto Sans CJK SC"/>
              </a:rPr>
              <a:t>Model Case study : Who should we actually buy?</a:t>
            </a:r>
            <a:endParaRPr b="0" lang="en-GB" sz="2000" spc="-1" strike="noStrike">
              <a:solidFill>
                <a:srgbClr val="000000"/>
              </a:solidFill>
              <a:latin typeface="Arial"/>
            </a:endParaRPr>
          </a:p>
        </p:txBody>
      </p:sp>
      <p:sp>
        <p:nvSpPr>
          <p:cNvPr id="180" name=""/>
          <p:cNvSpPr/>
          <p:nvPr/>
        </p:nvSpPr>
        <p:spPr>
          <a:xfrm>
            <a:off x="609480" y="4140000"/>
            <a:ext cx="4069080" cy="63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Visa Dialect Regular"/>
              </a:rPr>
              <a:t>The framework identified Mitchell as a development candidate based on 2021-2022 data. Since then his value multiplied 2x</a:t>
            </a:r>
            <a:r>
              <a:rPr b="0" i="1" lang="en-US" sz="1600" spc="-1" strike="noStrike">
                <a:solidFill>
                  <a:srgbClr val="000000"/>
                </a:solidFill>
                <a:latin typeface="Visa Dialect Regular"/>
              </a:rPr>
              <a:t> (source: transfer-market)</a:t>
            </a:r>
            <a:endParaRPr b="0" lang="en-GB" sz="1600" spc="-1" strike="noStrike">
              <a:solidFill>
                <a:srgbClr val="000000"/>
              </a:solidFill>
              <a:latin typeface="Arial"/>
            </a:endParaRPr>
          </a:p>
        </p:txBody>
      </p:sp>
      <p:sp>
        <p:nvSpPr>
          <p:cNvPr id="181" name="Title 15"/>
          <p:cNvSpPr/>
          <p:nvPr/>
        </p:nvSpPr>
        <p:spPr>
          <a:xfrm>
            <a:off x="609480" y="5310000"/>
            <a:ext cx="10969920" cy="234000"/>
          </a:xfrm>
          <a:prstGeom prst="rect">
            <a:avLst/>
          </a:prstGeom>
          <a:noFill/>
          <a:ln w="0">
            <a:noFill/>
          </a:ln>
        </p:spPr>
        <p:style>
          <a:lnRef idx="0"/>
          <a:fillRef idx="0"/>
          <a:effectRef idx="0"/>
          <a:fontRef idx="minor"/>
        </p:style>
        <p:txBody>
          <a:bodyPr wrap="none" lIns="0" rIns="0" tIns="0" bIns="91440" anchor="t">
            <a:noAutofit/>
          </a:bodyPr>
          <a:p>
            <a:pPr>
              <a:lnSpc>
                <a:spcPct val="100000"/>
              </a:lnSpc>
            </a:pPr>
            <a:endParaRPr b="0" lang="en-GB" sz="1800" spc="-1" strike="noStrike">
              <a:solidFill>
                <a:srgbClr val="000000"/>
              </a:solidFill>
              <a:latin typeface="Arial"/>
            </a:endParaRPr>
          </a:p>
        </p:txBody>
      </p:sp>
      <p:pic>
        <p:nvPicPr>
          <p:cNvPr id="182" name="" descr=""/>
          <p:cNvPicPr/>
          <p:nvPr/>
        </p:nvPicPr>
        <p:blipFill>
          <a:blip r:embed="rId1"/>
          <a:stretch/>
        </p:blipFill>
        <p:spPr>
          <a:xfrm>
            <a:off x="673200" y="1379880"/>
            <a:ext cx="3465360" cy="2398680"/>
          </a:xfrm>
          <a:prstGeom prst="rect">
            <a:avLst/>
          </a:prstGeom>
          <a:ln w="0">
            <a:noFill/>
          </a:ln>
        </p:spPr>
      </p:pic>
      <p:pic>
        <p:nvPicPr>
          <p:cNvPr id="183" name="" descr=""/>
          <p:cNvPicPr/>
          <p:nvPr/>
        </p:nvPicPr>
        <p:blipFill>
          <a:blip r:embed="rId2"/>
          <a:stretch/>
        </p:blipFill>
        <p:spPr>
          <a:xfrm>
            <a:off x="4882320" y="1343520"/>
            <a:ext cx="6456240" cy="3875040"/>
          </a:xfrm>
          <a:prstGeom prst="rect">
            <a:avLst/>
          </a:prstGeom>
          <a:ln w="0">
            <a:noFill/>
          </a:ln>
        </p:spPr>
      </p:pic>
      <p:sp>
        <p:nvSpPr>
          <p:cNvPr id="184" name=""/>
          <p:cNvSpPr/>
          <p:nvPr/>
        </p:nvSpPr>
        <p:spPr>
          <a:xfrm>
            <a:off x="360000" y="6120000"/>
            <a:ext cx="900000" cy="36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Content Placeholder 6"/>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86" name="Title 16"/>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r>
              <a:rPr b="1" lang="en-US" sz="2000" spc="-1" strike="noStrike">
                <a:solidFill>
                  <a:srgbClr val="1434cb"/>
                </a:solidFill>
                <a:latin typeface="Visa Dialect Semibold"/>
                <a:ea typeface="Noto Sans CJK SC"/>
              </a:rPr>
              <a:t>Model Case study : Who should we actually buy?</a:t>
            </a:r>
            <a:endParaRPr b="0" lang="en-GB" sz="2000" spc="-1" strike="noStrike">
              <a:solidFill>
                <a:srgbClr val="000000"/>
              </a:solidFill>
              <a:latin typeface="Arial"/>
            </a:endParaRPr>
          </a:p>
        </p:txBody>
      </p:sp>
      <p:sp>
        <p:nvSpPr>
          <p:cNvPr id="187" name=""/>
          <p:cNvSpPr/>
          <p:nvPr/>
        </p:nvSpPr>
        <p:spPr>
          <a:xfrm>
            <a:off x="609480" y="4140000"/>
            <a:ext cx="4069080" cy="63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Visa Dialect Regular"/>
              </a:rPr>
              <a:t>The framework identified Livramento as a development candidate based on 2021-2022 data. Since then his value multiplied 2x</a:t>
            </a:r>
            <a:r>
              <a:rPr b="0" i="1" lang="en-US" sz="1600" spc="-1" strike="noStrike">
                <a:solidFill>
                  <a:srgbClr val="000000"/>
                </a:solidFill>
                <a:latin typeface="Visa Dialect Regular"/>
              </a:rPr>
              <a:t> (source: transfer-market)</a:t>
            </a:r>
            <a:endParaRPr b="0" lang="en-GB" sz="1600" spc="-1" strike="noStrike">
              <a:solidFill>
                <a:srgbClr val="000000"/>
              </a:solidFill>
              <a:latin typeface="Arial"/>
            </a:endParaRPr>
          </a:p>
        </p:txBody>
      </p:sp>
      <p:sp>
        <p:nvSpPr>
          <p:cNvPr id="188" name="Title 17"/>
          <p:cNvSpPr/>
          <p:nvPr/>
        </p:nvSpPr>
        <p:spPr>
          <a:xfrm>
            <a:off x="609480" y="5310000"/>
            <a:ext cx="10969920" cy="234000"/>
          </a:xfrm>
          <a:prstGeom prst="rect">
            <a:avLst/>
          </a:prstGeom>
          <a:noFill/>
          <a:ln w="0">
            <a:noFill/>
          </a:ln>
        </p:spPr>
        <p:style>
          <a:lnRef idx="0"/>
          <a:fillRef idx="0"/>
          <a:effectRef idx="0"/>
          <a:fontRef idx="minor"/>
        </p:style>
        <p:txBody>
          <a:bodyPr wrap="none" lIns="0" rIns="0" tIns="0" bIns="91440" anchor="t">
            <a:noAutofit/>
          </a:bodyPr>
          <a:p>
            <a:pPr>
              <a:lnSpc>
                <a:spcPct val="100000"/>
              </a:lnSpc>
            </a:pPr>
            <a:endParaRPr b="0" lang="en-GB" sz="1800" spc="-1" strike="noStrike">
              <a:solidFill>
                <a:srgbClr val="000000"/>
              </a:solidFill>
              <a:latin typeface="Arial"/>
            </a:endParaRPr>
          </a:p>
        </p:txBody>
      </p:sp>
      <p:pic>
        <p:nvPicPr>
          <p:cNvPr id="189" name="" descr=""/>
          <p:cNvPicPr/>
          <p:nvPr/>
        </p:nvPicPr>
        <p:blipFill>
          <a:blip r:embed="rId1"/>
          <a:stretch/>
        </p:blipFill>
        <p:spPr>
          <a:xfrm>
            <a:off x="4736880" y="1260000"/>
            <a:ext cx="6961680" cy="4048560"/>
          </a:xfrm>
          <a:prstGeom prst="rect">
            <a:avLst/>
          </a:prstGeom>
          <a:ln w="0">
            <a:noFill/>
          </a:ln>
        </p:spPr>
      </p:pic>
      <p:pic>
        <p:nvPicPr>
          <p:cNvPr id="190" name="" descr=""/>
          <p:cNvPicPr/>
          <p:nvPr/>
        </p:nvPicPr>
        <p:blipFill>
          <a:blip r:embed="rId2"/>
          <a:stretch/>
        </p:blipFill>
        <p:spPr>
          <a:xfrm>
            <a:off x="900000" y="1260000"/>
            <a:ext cx="3350880" cy="2417400"/>
          </a:xfrm>
          <a:prstGeom prst="rect">
            <a:avLst/>
          </a:prstGeom>
          <a:ln w="0">
            <a:noFill/>
          </a:ln>
        </p:spPr>
      </p:pic>
      <p:sp>
        <p:nvSpPr>
          <p:cNvPr id="191" name=""/>
          <p:cNvSpPr/>
          <p:nvPr/>
        </p:nvSpPr>
        <p:spPr>
          <a:xfrm>
            <a:off x="360000" y="6120000"/>
            <a:ext cx="900000" cy="36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Content Placeholder 8"/>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193" name="Title 18"/>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r>
              <a:rPr b="1" lang="en-US" sz="2000" spc="-1" strike="noStrike">
                <a:solidFill>
                  <a:srgbClr val="1434cb"/>
                </a:solidFill>
                <a:latin typeface="Visa Dialect Semibold"/>
                <a:ea typeface="Noto Sans CJK SC"/>
              </a:rPr>
              <a:t>Model case study : Who should we actually buy?</a:t>
            </a:r>
            <a:endParaRPr b="0" lang="en-GB" sz="2000" spc="-1" strike="noStrike">
              <a:solidFill>
                <a:srgbClr val="000000"/>
              </a:solidFill>
              <a:latin typeface="Arial"/>
            </a:endParaRPr>
          </a:p>
        </p:txBody>
      </p:sp>
      <p:sp>
        <p:nvSpPr>
          <p:cNvPr id="194" name=""/>
          <p:cNvSpPr/>
          <p:nvPr/>
        </p:nvSpPr>
        <p:spPr>
          <a:xfrm>
            <a:off x="609480" y="4140000"/>
            <a:ext cx="4069080" cy="63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Visa Dialect Regular"/>
              </a:rPr>
              <a:t>The framework identified Guehi as a development candidate based on 2021-2022 data. Since then his value multiplied 2.5x</a:t>
            </a:r>
            <a:r>
              <a:rPr b="0" i="1" lang="en-US" sz="1600" spc="-1" strike="noStrike">
                <a:solidFill>
                  <a:srgbClr val="000000"/>
                </a:solidFill>
                <a:latin typeface="Visa Dialect Regular"/>
              </a:rPr>
              <a:t> (source: transfer-market)</a:t>
            </a:r>
            <a:endParaRPr b="0" lang="en-GB" sz="1600" spc="-1" strike="noStrike">
              <a:solidFill>
                <a:srgbClr val="000000"/>
              </a:solidFill>
              <a:latin typeface="Arial"/>
            </a:endParaRPr>
          </a:p>
        </p:txBody>
      </p:sp>
      <p:sp>
        <p:nvSpPr>
          <p:cNvPr id="195" name="Title 19"/>
          <p:cNvSpPr/>
          <p:nvPr/>
        </p:nvSpPr>
        <p:spPr>
          <a:xfrm>
            <a:off x="609480" y="5310000"/>
            <a:ext cx="10969920" cy="234000"/>
          </a:xfrm>
          <a:prstGeom prst="rect">
            <a:avLst/>
          </a:prstGeom>
          <a:noFill/>
          <a:ln w="0">
            <a:noFill/>
          </a:ln>
        </p:spPr>
        <p:style>
          <a:lnRef idx="0"/>
          <a:fillRef idx="0"/>
          <a:effectRef idx="0"/>
          <a:fontRef idx="minor"/>
        </p:style>
        <p:txBody>
          <a:bodyPr wrap="none" lIns="0" rIns="0" tIns="0" bIns="91440" anchor="t">
            <a:noAutofit/>
          </a:bodyPr>
          <a:p>
            <a:pPr>
              <a:lnSpc>
                <a:spcPct val="100000"/>
              </a:lnSpc>
            </a:pPr>
            <a:endParaRPr b="0" lang="en-GB" sz="1800" spc="-1" strike="noStrike">
              <a:solidFill>
                <a:srgbClr val="000000"/>
              </a:solidFill>
              <a:latin typeface="Arial"/>
            </a:endParaRPr>
          </a:p>
        </p:txBody>
      </p:sp>
      <p:pic>
        <p:nvPicPr>
          <p:cNvPr id="196" name="" descr=""/>
          <p:cNvPicPr/>
          <p:nvPr/>
        </p:nvPicPr>
        <p:blipFill>
          <a:blip r:embed="rId1"/>
          <a:stretch/>
        </p:blipFill>
        <p:spPr>
          <a:xfrm>
            <a:off x="768600" y="1440000"/>
            <a:ext cx="3369960" cy="2493720"/>
          </a:xfrm>
          <a:prstGeom prst="rect">
            <a:avLst/>
          </a:prstGeom>
          <a:ln w="0">
            <a:noFill/>
          </a:ln>
        </p:spPr>
      </p:pic>
      <p:pic>
        <p:nvPicPr>
          <p:cNvPr id="197" name="" descr=""/>
          <p:cNvPicPr/>
          <p:nvPr/>
        </p:nvPicPr>
        <p:blipFill>
          <a:blip r:embed="rId2"/>
          <a:stretch/>
        </p:blipFill>
        <p:spPr>
          <a:xfrm>
            <a:off x="4920480" y="1386000"/>
            <a:ext cx="6418080" cy="3922560"/>
          </a:xfrm>
          <a:prstGeom prst="rect">
            <a:avLst/>
          </a:prstGeom>
          <a:ln w="0">
            <a:noFill/>
          </a:ln>
        </p:spPr>
      </p:pic>
      <p:sp>
        <p:nvSpPr>
          <p:cNvPr id="198" name=""/>
          <p:cNvSpPr/>
          <p:nvPr/>
        </p:nvSpPr>
        <p:spPr>
          <a:xfrm>
            <a:off x="360000" y="6120000"/>
            <a:ext cx="900000" cy="36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Content Placeholder 1"/>
          <p:cNvSpPr/>
          <p:nvPr/>
        </p:nvSpPr>
        <p:spPr>
          <a:xfrm>
            <a:off x="609480" y="1600200"/>
            <a:ext cx="10188000" cy="46072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GB" sz="1600" spc="-1" strike="noStrike">
              <a:solidFill>
                <a:srgbClr val="000000"/>
              </a:solidFill>
              <a:latin typeface="Arial"/>
            </a:endParaRPr>
          </a:p>
          <a:p>
            <a:pPr defTabSz="914400">
              <a:lnSpc>
                <a:spcPct val="100000"/>
              </a:lnSpc>
              <a:spcBef>
                <a:spcPts val="601"/>
              </a:spcBef>
              <a:tabLst>
                <a:tab algn="l" pos="0"/>
              </a:tabLst>
            </a:pPr>
            <a:endParaRPr b="0" lang="en-GB" sz="1600" spc="-1" strike="noStrike">
              <a:solidFill>
                <a:srgbClr val="000000"/>
              </a:solidFill>
              <a:latin typeface="Arial"/>
            </a:endParaRPr>
          </a:p>
          <a:p>
            <a:pPr defTabSz="914400">
              <a:lnSpc>
                <a:spcPct val="100000"/>
              </a:lnSpc>
              <a:spcBef>
                <a:spcPts val="595"/>
              </a:spcBef>
              <a:tabLst>
                <a:tab algn="l" pos="0"/>
              </a:tabLst>
            </a:pPr>
            <a:endParaRPr b="0" lang="en-GB" sz="2800" spc="-1" strike="noStrike">
              <a:solidFill>
                <a:srgbClr val="000000"/>
              </a:solidFill>
              <a:latin typeface="Arial"/>
            </a:endParaRPr>
          </a:p>
        </p:txBody>
      </p:sp>
      <p:sp>
        <p:nvSpPr>
          <p:cNvPr id="200" name="Title 4"/>
          <p:cNvSpPr/>
          <p:nvPr/>
        </p:nvSpPr>
        <p:spPr>
          <a:xfrm>
            <a:off x="609480" y="471600"/>
            <a:ext cx="10969920" cy="234000"/>
          </a:xfrm>
          <a:prstGeom prst="rect">
            <a:avLst/>
          </a:prstGeom>
          <a:noFill/>
          <a:ln w="0">
            <a:noFill/>
          </a:ln>
        </p:spPr>
        <p:style>
          <a:lnRef idx="0"/>
          <a:fillRef idx="0"/>
          <a:effectRef idx="0"/>
          <a:fontRef idx="minor"/>
        </p:style>
        <p:txBody>
          <a:bodyPr wrap="none" lIns="0" rIns="0" tIns="0" bIns="91440" anchor="t">
            <a:noAutofit/>
          </a:bodyPr>
          <a:p>
            <a:pPr defTabSz="914400">
              <a:lnSpc>
                <a:spcPct val="90000"/>
              </a:lnSpc>
              <a:spcBef>
                <a:spcPts val="1191"/>
              </a:spcBef>
              <a:spcAft>
                <a:spcPts val="992"/>
              </a:spcAft>
              <a:tabLst>
                <a:tab algn="l" pos="0"/>
              </a:tabLst>
            </a:pPr>
            <a:r>
              <a:rPr b="1" lang="en-US" sz="2000" spc="-1" strike="noStrike">
                <a:solidFill>
                  <a:srgbClr val="1434cb"/>
                </a:solidFill>
                <a:latin typeface="Visa Dialect Semibold"/>
                <a:ea typeface="Noto Sans CJK SC"/>
              </a:rPr>
              <a:t>Strategic Recommendations</a:t>
            </a:r>
            <a:endParaRPr b="0" lang="en-GB" sz="2000" spc="-1" strike="noStrike">
              <a:solidFill>
                <a:srgbClr val="000000"/>
              </a:solidFill>
              <a:latin typeface="Arial"/>
            </a:endParaRPr>
          </a:p>
        </p:txBody>
      </p:sp>
      <p:sp>
        <p:nvSpPr>
          <p:cNvPr id="201" name=""/>
          <p:cNvSpPr/>
          <p:nvPr/>
        </p:nvSpPr>
        <p:spPr>
          <a:xfrm>
            <a:off x="609480" y="798120"/>
            <a:ext cx="10510920" cy="63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Visa Dialect Regular"/>
              </a:rPr>
              <a:t>How to value players and where to invest in development</a:t>
            </a:r>
            <a:endParaRPr b="0" lang="en-GB" sz="1600" spc="-1" strike="noStrike">
              <a:solidFill>
                <a:srgbClr val="000000"/>
              </a:solidFill>
              <a:latin typeface="Arial"/>
            </a:endParaRPr>
          </a:p>
        </p:txBody>
      </p:sp>
      <p:sp>
        <p:nvSpPr>
          <p:cNvPr id="202" name=""/>
          <p:cNvSpPr/>
          <p:nvPr/>
        </p:nvSpPr>
        <p:spPr>
          <a:xfrm>
            <a:off x="540000" y="1440000"/>
            <a:ext cx="8457480" cy="4104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Visa Dialect Regular"/>
              </a:rPr>
              <a:t>1. Scouting: Purchase players near a break-point</a:t>
            </a:r>
            <a:endParaRPr b="0" lang="en-GB" sz="1400" spc="-1" strike="noStrike">
              <a:solidFill>
                <a:srgbClr val="000000"/>
              </a:solidFill>
              <a:latin typeface="Arial"/>
            </a:endParaRPr>
          </a:p>
          <a:p>
            <a:pPr>
              <a:lnSpc>
                <a:spcPct val="100000"/>
              </a:lnSpc>
              <a:spcBef>
                <a:spcPts val="1191"/>
              </a:spcBef>
              <a:spcAft>
                <a:spcPts val="992"/>
              </a:spcAft>
            </a:pPr>
            <a:r>
              <a:rPr b="0" lang="en-US" sz="1400" spc="-1" strike="noStrike">
                <a:solidFill>
                  <a:srgbClr val="000000"/>
                </a:solidFill>
                <a:latin typeface="Visa Dialect Regular"/>
              </a:rPr>
              <a:t>Instead of looking for finished stars, target "average" players who are just one skill improvement away from a higher price tag . Buy them at the average price before they make that jump and their value spikes .</a:t>
            </a:r>
            <a:endParaRPr b="0" lang="en-GB" sz="1400" spc="-1" strike="noStrike">
              <a:solidFill>
                <a:srgbClr val="000000"/>
              </a:solidFill>
              <a:latin typeface="Arial"/>
            </a:endParaRPr>
          </a:p>
          <a:p>
            <a:pPr>
              <a:lnSpc>
                <a:spcPct val="100000"/>
              </a:lnSpc>
            </a:pPr>
            <a:r>
              <a:rPr b="1" lang="en-US" sz="1400" spc="-1" strike="noStrike">
                <a:solidFill>
                  <a:srgbClr val="000000"/>
                </a:solidFill>
                <a:latin typeface="Visa Dialect Regular"/>
              </a:rPr>
              <a:t>2. Development: Focus on the high leverage skill deficits</a:t>
            </a:r>
            <a:endParaRPr b="0" lang="en-GB" sz="1400" spc="-1" strike="noStrike">
              <a:solidFill>
                <a:srgbClr val="000000"/>
              </a:solidFill>
              <a:latin typeface="Arial"/>
            </a:endParaRPr>
          </a:p>
          <a:p>
            <a:pPr>
              <a:lnSpc>
                <a:spcPct val="100000"/>
              </a:lnSpc>
              <a:spcBef>
                <a:spcPts val="1191"/>
              </a:spcBef>
              <a:spcAft>
                <a:spcPts val="992"/>
              </a:spcAft>
            </a:pPr>
            <a:r>
              <a:rPr b="0" lang="en-US" sz="1400" spc="-1" strike="noStrike">
                <a:solidFill>
                  <a:srgbClr val="000000"/>
                </a:solidFill>
                <a:latin typeface="Visa Dialect Regular"/>
              </a:rPr>
              <a:t>Stop generic coaching. Identify the single specific skill (like dribbling or passing) that most efficiently nudges players towards the next threshold, to maximize ROI from training.</a:t>
            </a:r>
            <a:endParaRPr b="0" lang="en-GB" sz="1400" spc="-1" strike="noStrike">
              <a:solidFill>
                <a:srgbClr val="000000"/>
              </a:solidFill>
              <a:latin typeface="Arial"/>
            </a:endParaRPr>
          </a:p>
          <a:p>
            <a:pPr>
              <a:lnSpc>
                <a:spcPct val="100000"/>
              </a:lnSpc>
            </a:pPr>
            <a:r>
              <a:rPr b="1" lang="en-US" sz="1400" spc="-1" strike="noStrike">
                <a:solidFill>
                  <a:srgbClr val="000000"/>
                </a:solidFill>
                <a:latin typeface="Visa Dialect Regular"/>
              </a:rPr>
              <a:t>3. Portfolio: Weight investment by position</a:t>
            </a:r>
            <a:endParaRPr b="0" lang="en-GB" sz="1400" spc="-1" strike="noStrike">
              <a:solidFill>
                <a:srgbClr val="000000"/>
              </a:solidFill>
              <a:latin typeface="Arial"/>
            </a:endParaRPr>
          </a:p>
          <a:p>
            <a:pPr>
              <a:lnSpc>
                <a:spcPct val="100000"/>
              </a:lnSpc>
              <a:spcBef>
                <a:spcPts val="1191"/>
              </a:spcBef>
              <a:spcAft>
                <a:spcPts val="992"/>
              </a:spcAft>
            </a:pPr>
            <a:r>
              <a:rPr b="0" lang="en-US" sz="1400" spc="-1" strike="noStrike">
                <a:solidFill>
                  <a:srgbClr val="000000"/>
                </a:solidFill>
                <a:latin typeface="Visa Dialect Regular"/>
              </a:rPr>
              <a:t>Attackers are already expensive, and their offensive skills are already highly developed, further development is more challenging. The most consistent financial opportunity is in buying Midfielders and Defenders, where offensive talent is currently under-trained.  </a:t>
            </a:r>
            <a:endParaRPr b="0" lang="en-GB" sz="1400" spc="-1" strike="noStrike">
              <a:solidFill>
                <a:srgbClr val="000000"/>
              </a:solidFill>
              <a:latin typeface="Arial"/>
            </a:endParaRPr>
          </a:p>
          <a:p>
            <a:pPr>
              <a:lnSpc>
                <a:spcPct val="100000"/>
              </a:lnSpc>
            </a:pPr>
            <a:endParaRPr b="0" lang="en-GB" sz="1800" spc="-1" strike="noStrike">
              <a:solidFill>
                <a:srgbClr val="000000"/>
              </a:solidFill>
              <a:latin typeface="Arial"/>
            </a:endParaRPr>
          </a:p>
        </p:txBody>
      </p:sp>
      <p:sp>
        <p:nvSpPr>
          <p:cNvPr id="203" name="Title 8"/>
          <p:cNvSpPr/>
          <p:nvPr/>
        </p:nvSpPr>
        <p:spPr>
          <a:xfrm>
            <a:off x="609480" y="5310000"/>
            <a:ext cx="10969920" cy="234000"/>
          </a:xfrm>
          <a:prstGeom prst="rect">
            <a:avLst/>
          </a:prstGeom>
          <a:noFill/>
          <a:ln w="0">
            <a:noFill/>
          </a:ln>
        </p:spPr>
        <p:style>
          <a:lnRef idx="0"/>
          <a:fillRef idx="0"/>
          <a:effectRef idx="0"/>
          <a:fontRef idx="minor"/>
        </p:style>
        <p:txBody>
          <a:bodyPr wrap="none" lIns="0" rIns="0" tIns="0" bIns="91440" anchor="t">
            <a:noAutofit/>
          </a:bodyPr>
          <a:p>
            <a:pPr>
              <a:lnSpc>
                <a:spcPct val="100000"/>
              </a:lnSpc>
            </a:pPr>
            <a:endParaRPr b="0" lang="en-GB" sz="1800" spc="-1" strike="noStrike">
              <a:solidFill>
                <a:srgbClr val="000000"/>
              </a:solidFill>
              <a:latin typeface="Arial"/>
            </a:endParaRPr>
          </a:p>
        </p:txBody>
      </p:sp>
      <p:sp>
        <p:nvSpPr>
          <p:cNvPr id="204" name=""/>
          <p:cNvSpPr/>
          <p:nvPr/>
        </p:nvSpPr>
        <p:spPr>
          <a:xfrm>
            <a:off x="360000" y="6120000"/>
            <a:ext cx="900000" cy="36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p:nvPr>
        </p:nvSpPr>
        <p:spPr>
          <a:xfrm>
            <a:off x="609480" y="1600200"/>
            <a:ext cx="10969920" cy="4607280"/>
          </a:xfrm>
          <a:prstGeom prst="rect">
            <a:avLst/>
          </a:prstGeom>
          <a:noFill/>
          <a:ln w="0">
            <a:noFill/>
          </a:ln>
        </p:spPr>
        <p:txBody>
          <a:bodyPr lIns="91440" rIns="91440" tIns="45720" bIns="45720" anchor="t">
            <a:noAutofit/>
          </a:bodyPr>
          <a:p>
            <a:pPr indent="0" defTabSz="914400">
              <a:lnSpc>
                <a:spcPct val="100000"/>
              </a:lnSpc>
              <a:spcAft>
                <a:spcPts val="1199"/>
              </a:spcAft>
              <a:buNone/>
              <a:tabLst>
                <a:tab algn="l" pos="0"/>
              </a:tabLst>
            </a:pPr>
            <a:r>
              <a:rPr b="0" lang="en-GB" sz="19900" spc="-1" strike="noStrike">
                <a:solidFill>
                  <a:srgbClr val="1434cb"/>
                </a:solidFill>
                <a:latin typeface="Visa Dialect Medium"/>
              </a:rPr>
              <a:t>Q&amp;A</a:t>
            </a:r>
            <a:endParaRPr b="0" lang="en-GB" sz="19900" spc="-1" strike="noStrike">
              <a:solidFill>
                <a:srgbClr val="000000"/>
              </a:solidFill>
              <a:latin typeface="Arial"/>
            </a:endParaRPr>
          </a:p>
        </p:txBody>
      </p:sp>
      <p:sp>
        <p:nvSpPr>
          <p:cNvPr id="206" name=""/>
          <p:cNvSpPr/>
          <p:nvPr/>
        </p:nvSpPr>
        <p:spPr>
          <a:xfrm>
            <a:off x="900000" y="900000"/>
            <a:ext cx="3418920" cy="1473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4000" spc="-1" strike="noStrike">
                <a:solidFill>
                  <a:srgbClr val="ffcc00"/>
                </a:solidFill>
                <a:latin typeface="Visa Dialect Medium"/>
              </a:rPr>
              <a:t>Thank you!</a:t>
            </a:r>
            <a:endParaRPr b="0" lang="en-GB" sz="4000" spc="-1" strike="noStrike">
              <a:solidFill>
                <a:srgbClr val="000000"/>
              </a:solidFill>
              <a:latin typeface="Arial"/>
            </a:endParaRPr>
          </a:p>
        </p:txBody>
      </p:sp>
      <p:sp>
        <p:nvSpPr>
          <p:cNvPr id="207" name=""/>
          <p:cNvSpPr/>
          <p:nvPr/>
        </p:nvSpPr>
        <p:spPr>
          <a:xfrm>
            <a:off x="360000" y="6120000"/>
            <a:ext cx="900000" cy="360000"/>
          </a:xfrm>
          <a:prstGeom prst="rect">
            <a:avLst/>
          </a:prstGeom>
          <a:solidFill>
            <a:srgbClr val="ffffff"/>
          </a:solidFill>
          <a:ln w="0">
            <a:solidFill>
              <a:srgbClr val="ffffff"/>
            </a:solidFill>
          </a:ln>
        </p:spPr>
        <p:style>
          <a:lnRef idx="0"/>
          <a:fillRef idx="0"/>
          <a:effectRef idx="0"/>
          <a:fontRef idx="minor"/>
        </p:style>
        <p:txBody>
          <a:bodyPr lIns="90000" rIns="90000" tIns="45000" bIns="45000" anchor="ctr">
            <a:noAutofit/>
          </a:bodyPr>
          <a:p>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4.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5.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6.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7.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8.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9.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0.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1.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2.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3.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4.xml><?xml version="1.0" encoding="utf-8"?>
<a:theme xmlns:a="http://schemas.openxmlformats.org/drawingml/2006/main" xmlns:r="http://schemas.openxmlformats.org/officeDocument/2006/relationships" name="Visa Blue Theme">
  <a:themeElements>
    <a:clrScheme name="Visa 2021">
      <a:dk1>
        <a:srgbClr val="000000"/>
      </a:dk1>
      <a:lt1>
        <a:srgbClr val="ffffff"/>
      </a:lt1>
      <a:dk2>
        <a:srgbClr val="f0f0f0"/>
      </a:dk2>
      <a:lt2>
        <a:srgbClr val="96918d"/>
      </a:lt2>
      <a:accent1>
        <a:srgbClr val="1434cb"/>
      </a:accent1>
      <a:accent2>
        <a:srgbClr val="fcc015"/>
      </a:accent2>
      <a:accent3>
        <a:srgbClr val="021e4c"/>
      </a:accent3>
      <a:accent4>
        <a:srgbClr val="2b94f5"/>
      </a:accent4>
      <a:accent5>
        <a:srgbClr val="96a6f4"/>
      </a:accent5>
      <a:accent6>
        <a:srgbClr val="cad2f9"/>
      </a:accent6>
      <a:hlink>
        <a:srgbClr val="f7a105"/>
      </a:hlink>
      <a:folHlink>
        <a:srgbClr val="bfbfbf"/>
      </a:folHlink>
    </a:clrScheme>
    <a:fontScheme name="Visa Dialect">
      <a:majorFont>
        <a:latin typeface="Visa Dialect Semibold" pitchFamily="0" charset="1"/>
        <a:ea typeface=""/>
        <a:cs typeface=""/>
      </a:majorFont>
      <a:minorFont>
        <a:latin typeface="Visa Dialect Regula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B046DEED8E4E24A92D3D02087B87CA6" ma:contentTypeVersion="23" ma:contentTypeDescription="Create a new document." ma:contentTypeScope="" ma:versionID="243967729924606a47b620edfc80d2d1">
  <xsd:schema xmlns:xsd="http://www.w3.org/2001/XMLSchema" xmlns:xs="http://www.w3.org/2001/XMLSchema" xmlns:p="http://schemas.microsoft.com/office/2006/metadata/properties" xmlns:ns1="http://schemas.microsoft.com/sharepoint/v3" xmlns:ns2="34d25115-8fa3-451b-8298-b002f8b5b79d" xmlns:ns3="8ed28ad6-1f7a-4dff-88ec-e9a80de125b2" targetNamespace="http://schemas.microsoft.com/office/2006/metadata/properties" ma:root="true" ma:fieldsID="17bec8770ba321285885fbed7bf968be" ns1:_="" ns2:_="" ns3:_="">
    <xsd:import namespace="http://schemas.microsoft.com/sharepoint/v3"/>
    <xsd:import namespace="34d25115-8fa3-451b-8298-b002f8b5b79d"/>
    <xsd:import namespace="8ed28ad6-1f7a-4dff-88ec-e9a80de125b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AutoKeyPoints" minOccurs="0"/>
                <xsd:element ref="ns2:MediaServiceKeyPoints" minOccurs="0"/>
                <xsd:element ref="ns2:MediaLengthInSeconds" minOccurs="0"/>
                <xsd:element ref="ns3:TaxCatchAll" minOccurs="0"/>
                <xsd:element ref="ns2:MediaServiceOCR"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d25115-8fa3-451b-8298-b002f8b5b7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2" nillable="true" ma:displayName="Extracted Text" ma:internalName="MediaServiceOCR"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6c7cd15-b2ae-4659-bfa5-b3b9d1479a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d28ad6-1f7a-4dff-88ec-e9a80de125b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f59ed2d-9389-45dd-8369-29c552b9990d}" ma:internalName="TaxCatchAll" ma:showField="CatchAllData" ma:web="8ed28ad6-1f7a-4dff-88ec-e9a80de125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34d25115-8fa3-451b-8298-b002f8b5b79d">
      <Terms xmlns="http://schemas.microsoft.com/office/infopath/2007/PartnerControls"/>
    </lcf76f155ced4ddcb4097134ff3c332f>
    <_ip_UnifiedCompliancePolicyProperties xmlns="http://schemas.microsoft.com/sharepoint/v3" xsi:nil="true"/>
    <TaxCatchAll xmlns="8ed28ad6-1f7a-4dff-88ec-e9a80de125b2" xsi:nil="true"/>
  </documentManagement>
</p:properties>
</file>

<file path=customXml/itemProps1.xml><?xml version="1.0" encoding="utf-8"?>
<ds:datastoreItem xmlns:ds="http://schemas.openxmlformats.org/officeDocument/2006/customXml" ds:itemID="{93337C45-B420-4E35-ACE0-B879BC6BF454}"/>
</file>

<file path=customXml/itemProps2.xml><?xml version="1.0" encoding="utf-8"?>
<ds:datastoreItem xmlns:ds="http://schemas.openxmlformats.org/officeDocument/2006/customXml" ds:itemID="{0982FCC3-590C-4803-B3B2-4A70E2B329D1}"/>
</file>

<file path=customXml/itemProps3.xml><?xml version="1.0" encoding="utf-8"?>
<ds:datastoreItem xmlns:ds="http://schemas.openxmlformats.org/officeDocument/2006/customXml" ds:itemID="{67B32D73-D50F-4E21-BC12-5D4EAF6A9652}"/>
</file>

<file path=docProps/app.xml><?xml version="1.0" encoding="utf-8"?>
<Properties xmlns="http://schemas.openxmlformats.org/officeDocument/2006/extended-properties" xmlns:vt="http://schemas.openxmlformats.org/officeDocument/2006/docPropsVTypes">
  <Template/>
  <TotalTime>1448</TotalTime>
  <Application>LibreOffice/24.2.7.2$Linux_X86_64 LibreOffice_project/420$Build-2</Application>
  <AppVersion>15.0000</AppVersion>
  <Words>730</Words>
  <Paragraphs>96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2023-01-25T14:08:52Z</dcterms:created>
  <dc:creator>Lynch, Gracie</dc:creator>
  <dc:description/>
  <dc:language>en-GB</dc:language>
  <cp:lastModifiedBy/>
  <cp:lastPrinted>2023-01-25T14:11:42Z</cp:lastPrinted>
  <dcterms:modified xsi:type="dcterms:W3CDTF">2026-02-11T23:32:42Z</dcterms:modified>
  <cp:revision>20</cp:revision>
  <dc:subject/>
  <dc:title>Title- Candidates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0x010100FB046DEED8E4E24A92D3D02087B87CA6</vt:lpwstr>
  </property>
  <property fmtid="{D5CDD505-2E9C-101B-9397-08002B2CF9AE}" pid="3" name="MSIP_Label_a0f89cb5-682d-4be4-b0e0-739c9b4a93d4_ActionId">
    <vt:lpwstr>1d924f00-bc4e-4fc5-a461-8f72e8cda0af</vt:lpwstr>
  </property>
  <property fmtid="{D5CDD505-2E9C-101B-9397-08002B2CF9AE}" pid="4" name="MSIP_Label_a0f89cb5-682d-4be4-b0e0-739c9b4a93d4_ContentBits">
    <vt:lpwstr>0</vt:lpwstr>
  </property>
  <property fmtid="{D5CDD505-2E9C-101B-9397-08002B2CF9AE}" pid="5" name="MSIP_Label_a0f89cb5-682d-4be4-b0e0-739c9b4a93d4_Enabled">
    <vt:lpwstr>true</vt:lpwstr>
  </property>
  <property fmtid="{D5CDD505-2E9C-101B-9397-08002B2CF9AE}" pid="6" name="MSIP_Label_a0f89cb5-682d-4be4-b0e0-739c9b4a93d4_Method">
    <vt:lpwstr>Standard</vt:lpwstr>
  </property>
  <property fmtid="{D5CDD505-2E9C-101B-9397-08002B2CF9AE}" pid="7" name="MSIP_Label_a0f89cb5-682d-4be4-b0e0-739c9b4a93d4_Name">
    <vt:lpwstr>Not Classified</vt:lpwstr>
  </property>
  <property fmtid="{D5CDD505-2E9C-101B-9397-08002B2CF9AE}" pid="8" name="MSIP_Label_a0f89cb5-682d-4be4-b0e0-739c9b4a93d4_SetDate">
    <vt:lpwstr>2023-01-25T14:08:52Z</vt:lpwstr>
  </property>
  <property fmtid="{D5CDD505-2E9C-101B-9397-08002B2CF9AE}" pid="9" name="MSIP_Label_a0f89cb5-682d-4be4-b0e0-739c9b4a93d4_SiteId">
    <vt:lpwstr>38305e12-e15d-4ee8-88b9-c4db1c477d76</vt:lpwstr>
  </property>
  <property fmtid="{D5CDD505-2E9C-101B-9397-08002B2CF9AE}" pid="10" name="PresentationFormat">
    <vt:lpwstr>Widescreen</vt:lpwstr>
  </property>
  <property fmtid="{D5CDD505-2E9C-101B-9397-08002B2CF9AE}" pid="11" name="Slides">
    <vt:i4>10</vt:i4>
  </property>
</Properties>
</file>